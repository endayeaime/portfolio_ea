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7" r:id="rId4"/>
    <p:sldId id="259" r:id="rId5"/>
    <p:sldId id="260" r:id="rId6"/>
    <p:sldId id="266" r:id="rId7"/>
    <p:sldId id="262" r:id="rId8"/>
    <p:sldId id="261" r:id="rId9"/>
    <p:sldId id="263" r:id="rId10"/>
    <p:sldId id="271" r:id="rId11"/>
    <p:sldId id="264" r:id="rId12"/>
    <p:sldId id="270" r:id="rId13"/>
    <p:sldId id="269" r:id="rId14"/>
    <p:sldId id="268" r:id="rId15"/>
    <p:sldId id="267" r:id="rId16"/>
    <p:sldId id="275" r:id="rId17"/>
    <p:sldId id="274" r:id="rId18"/>
    <p:sldId id="273" r:id="rId19"/>
    <p:sldId id="272" r:id="rId20"/>
    <p:sldId id="265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A52F0-6D8B-1E40-82D5-EADED289C867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0B39D-D441-E643-A1D7-5CC5A6781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450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0B39D-D441-E643-A1D7-5CC5A67812C0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172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3207F-B04A-37F5-4ACB-54F90C663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BC3B983-0261-6F14-A6E1-E1F73B876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16EE38-2D90-512B-38AB-15946DBC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38DB5-7821-B8DC-A8EF-6472F120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0724F4-F9DF-0437-D65D-EAF32F4C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31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EB8441-145D-22E4-39CA-D9A313A0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656864-97DE-C179-E166-A3BB30522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DFBB0D-348F-EC7D-BE92-1C2F1A9A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EB194B-8751-E509-8DEE-FC993449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122CF-6F26-F833-FB42-7FD03F5E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77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E78E64-41FE-373D-0492-1B66E92B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5A7CC0-8145-C90B-FCEB-9597B701A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6B6BC-AB33-4C4D-D88C-E8E5C844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ED47BD-7D18-E67D-733F-F1FB0606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E5351F-D4F9-F46C-98E3-872F2D64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213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506343-3B70-6340-70FA-A2A5A95D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E292D2-F6A4-2487-585C-E997B8BD3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FB0409-4CF5-8AC9-0C81-389E68303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FE7EB5-2E47-4E4A-9FBB-DC81B8AB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33E585-ED20-B366-0631-85A894E6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EA976B-A7E9-3F15-53DF-4E5A99AB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1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EA099C-93BE-0D32-68B9-46C0217E9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C8C380-309F-8299-3226-71819F074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B410FD-B064-6CEE-3A66-9F50D2D41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49201C9-6506-65A2-BA93-CDA8EAEEF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7D03AE-4630-0867-4AC7-1DF1D4088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6619E84-3A3D-06F0-8449-0A315166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93A949-3224-CB9C-EC09-2F671C52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572A8E-E250-58B7-49D8-6A0D6BA0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3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47A26-33F3-985F-D556-84BC2080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AC4EAA-289A-5BAF-1ACE-11013F2E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115000-E000-5CE0-1E85-6769AFEB8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59150C-E461-F4D0-396F-867E9F2D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58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61457C-ABB3-1C25-879A-486B25948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08431C-F369-946B-25EC-AC1861B6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8918FF-3C4B-6D8D-7163-3F224710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28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DBE60-A441-CD2D-BD4B-7B57AA40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5FB2BD-6BBA-968E-9F8D-C7BFA577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BEA974-FDB9-F720-B834-54DAECCB5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F43F04-F79F-847C-1469-227822A4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2A8368-6466-0F15-6530-71F26140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B489D8-9C87-DC26-8D40-0D3AF374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30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60205-6A6E-C8A6-41C0-E9C3A149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494E0DC-09F6-E17F-FC0E-376D5A410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028A31-B99C-896C-7114-ADAE1A7D1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FD55A3-00CD-932D-ED75-C83C8466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9E560D-6ECC-ACBF-779D-04FCAD7A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922AFB-824D-BBF1-0592-ED9735A7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54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4D1DC-894F-CE32-51CE-48C245850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FD61E9-26F1-6B54-9A93-5773F33A0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4F1D40-2184-3CA2-3DB4-2D78F937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5B6A74-046E-4EF6-FE5D-369E8B02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A20916-1181-7B91-E9EA-F6C5503C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44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E9947CC-DD1B-0208-4CD8-3B90CF57F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B0A1E3-C511-7B82-9968-2BB03A741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DF3D1C-A429-9032-B557-93D97E3C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D2A47E-4990-C1DE-A9DD-E3A61661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60B011-AE14-0C1C-48E9-916C0488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71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D38F31-D92A-88B7-4A89-A0827C780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D2C788-C685-12FA-B063-C55754DA8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E4DBC6-19E5-C1A4-C5C6-A43963AF4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41724-5A54-4447-BB44-F2179EDCCFE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4B9869-F8F3-7888-171A-5695F052E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1BB795-FA73-37C8-8C95-E118AD329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81E03-3DCF-2A4F-B79D-25CDDB766F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15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9F489A1-048B-94A7-969A-9E4BFF0A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17"/>
            <a:ext cx="10515600" cy="900113"/>
          </a:xfrm>
        </p:spPr>
        <p:txBody>
          <a:bodyPr>
            <a:normAutofit fontScale="90000"/>
          </a:bodyPr>
          <a:lstStyle/>
          <a:p>
            <a:r>
              <a:rPr lang="fr-FR" sz="6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Introduction</a:t>
            </a:r>
            <a:r>
              <a:rPr lang="fr-FR" sz="6000" b="1" u="sng" dirty="0">
                <a:solidFill>
                  <a:schemeClr val="bg1"/>
                </a:solidFill>
                <a:latin typeface="+mn-lt"/>
              </a:rPr>
              <a:t> </a:t>
            </a:r>
            <a:r>
              <a:rPr lang="fr-FR" sz="6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du</a:t>
            </a:r>
            <a:r>
              <a:rPr lang="fr-FR" sz="6000" b="1" u="sng" dirty="0">
                <a:solidFill>
                  <a:schemeClr val="bg1"/>
                </a:solidFill>
                <a:latin typeface="+mn-lt"/>
              </a:rPr>
              <a:t> </a:t>
            </a:r>
            <a:r>
              <a:rPr lang="fr-FR" sz="6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projet</a:t>
            </a:r>
            <a:r>
              <a:rPr lang="fr-FR" sz="6000" b="1" u="sng" dirty="0">
                <a:solidFill>
                  <a:schemeClr val="bg1"/>
                </a:solidFill>
                <a:latin typeface="+mn-lt"/>
              </a:rPr>
              <a:t> : 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36A24C7-3F7C-948C-6C1A-60097B745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5901"/>
            <a:ext cx="10515600" cy="4443412"/>
          </a:xfrm>
        </p:spPr>
        <p:txBody>
          <a:bodyPr>
            <a:noAutofit/>
          </a:bodyPr>
          <a:lstStyle/>
          <a:p>
            <a:r>
              <a:rPr lang="fr-FR" sz="2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Contexte du projet </a:t>
            </a:r>
            <a:r>
              <a:rPr lang="fr-FR" sz="2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 </a:t>
            </a:r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Laplace Immo – réseau national d’agences immobilières.</a:t>
            </a:r>
            <a:endParaRPr lang="fr-FR" sz="26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fr-FR" sz="26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fr-FR" sz="2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Objectif global :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Centraliser et exploiter les transactions immobilières en France afin de suivre l’évolution du marché et identifier les régions les plus dynamiques.</a:t>
            </a:r>
          </a:p>
          <a:p>
            <a:endParaRPr lang="fr-FR" sz="2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fr-FR" sz="2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Problématique :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Comment centraliser et structurer les transactions immobilières françaises pour produire des indicateurs fiables sur le dynamisme du marché ?</a:t>
            </a:r>
            <a:endParaRPr lang="fr-FR" sz="26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98685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9C021C-6F9C-DF73-825B-4E59FBA3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AF0A7D74-57CD-7A2C-D99A-3E37C9BB3112}"/>
              </a:ext>
            </a:extLst>
          </p:cNvPr>
          <p:cNvSpPr txBox="1"/>
          <p:nvPr/>
        </p:nvSpPr>
        <p:spPr>
          <a:xfrm>
            <a:off x="2966483" y="474898"/>
            <a:ext cx="676496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Sommaire :</a:t>
            </a:r>
          </a:p>
          <a:p>
            <a:endParaRPr lang="fr-FR" sz="2400" b="1" dirty="0"/>
          </a:p>
          <a:p>
            <a:r>
              <a:rPr lang="fr-FR" sz="1600" b="1" dirty="0"/>
              <a:t>1️⃣ Introduction du projet</a:t>
            </a:r>
          </a:p>
          <a:p>
            <a:r>
              <a:rPr lang="fr-FR" sz="1600" dirty="0"/>
              <a:t>Contexte, objectifs, problématique</a:t>
            </a:r>
            <a:br>
              <a:rPr lang="fr-FR" sz="1600" dirty="0"/>
            </a:br>
            <a:r>
              <a:rPr lang="fr-FR" sz="1600" i="1" dirty="0"/>
              <a:t>(Laplace Immo et la valorisation des données DVF)</a:t>
            </a:r>
          </a:p>
          <a:p>
            <a:endParaRPr lang="fr-FR" sz="1600" dirty="0"/>
          </a:p>
          <a:p>
            <a:r>
              <a:rPr lang="fr-FR" sz="1600" b="1" dirty="0"/>
              <a:t>2️⃣ Préparation et transformation des données</a:t>
            </a:r>
          </a:p>
          <a:p>
            <a:r>
              <a:rPr lang="fr-FR" sz="1600" dirty="0"/>
              <a:t>Source des données, nettoyage, normalisation, choix des données</a:t>
            </a:r>
          </a:p>
          <a:p>
            <a:endParaRPr lang="fr-FR" sz="1600" dirty="0"/>
          </a:p>
          <a:p>
            <a:r>
              <a:rPr lang="fr-FR" sz="1600" b="1" dirty="0"/>
              <a:t>3️⃣ Modélisation de la base de données</a:t>
            </a:r>
          </a:p>
          <a:p>
            <a:r>
              <a:rPr lang="fr-FR" sz="1600" dirty="0"/>
              <a:t>Schéma relationnel, dictionnaire des données, création des tables</a:t>
            </a:r>
          </a:p>
          <a:p>
            <a:endParaRPr lang="fr-FR" sz="1600" dirty="0"/>
          </a:p>
          <a:p>
            <a:r>
              <a:rPr lang="fr-FR" sz="1600" b="1" dirty="0"/>
              <a:t>4️⃣ Analyse du marché immobilier</a:t>
            </a:r>
          </a:p>
          <a:p>
            <a:r>
              <a:rPr lang="fr-FR" sz="1600" dirty="0"/>
              <a:t>Requêtes SQL, statistiques sur les ventes, ratio ventes/population, indicateurs régionaux</a:t>
            </a:r>
          </a:p>
          <a:p>
            <a:endParaRPr lang="fr-FR" sz="1600" dirty="0"/>
          </a:p>
          <a:p>
            <a:r>
              <a:rPr lang="fr-FR" sz="1600" b="1" dirty="0"/>
              <a:t>5️⃣ Résultats et interprétation</a:t>
            </a:r>
          </a:p>
          <a:p>
            <a:r>
              <a:rPr lang="fr-FR" sz="1600" dirty="0"/>
              <a:t>Constats principaux, tendances observées, validation du Proof of Concept (POC)</a:t>
            </a:r>
          </a:p>
          <a:p>
            <a:endParaRPr lang="fr-FR" sz="1600" dirty="0"/>
          </a:p>
          <a:p>
            <a:r>
              <a:rPr lang="fr-FR" sz="1600" b="1" dirty="0"/>
              <a:t>6️⃣ Conclusion et perspectives</a:t>
            </a:r>
          </a:p>
          <a:p>
            <a:r>
              <a:rPr lang="fr-FR" sz="1600" dirty="0"/>
              <a:t>Synthèse, limites du projet, améliorations et automatisations futures</a:t>
            </a:r>
          </a:p>
        </p:txBody>
      </p:sp>
    </p:spTree>
    <p:extLst>
      <p:ext uri="{BB962C8B-B14F-4D97-AF65-F5344CB8AC3E}">
        <p14:creationId xmlns:p14="http://schemas.microsoft.com/office/powerpoint/2010/main" val="38868697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728F2-132A-42BB-A37D-71F16E95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E38703F-34D0-10C9-CE9D-7F5C2DDA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3519561" cy="1325563"/>
          </a:xfrm>
        </p:spPr>
        <p:txBody>
          <a:bodyPr>
            <a:normAutofit/>
          </a:bodyPr>
          <a:lstStyle/>
          <a:p>
            <a:r>
              <a:rPr lang="fr-FR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Données et méthodologie</a:t>
            </a: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Espace réservé du contenu 15">
            <a:extLst>
              <a:ext uri="{FF2B5EF4-FFF2-40B4-BE49-F238E27FC236}">
                <a16:creationId xmlns:a16="http://schemas.microsoft.com/office/drawing/2014/main" id="{14FF0B15-F1A7-0EE2-4C54-96D07C76AD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64487" y="239420"/>
            <a:ext cx="7135289" cy="2142273"/>
          </a:xfrm>
        </p:spPr>
      </p:pic>
      <p:pic>
        <p:nvPicPr>
          <p:cNvPr id="18" name="Espace réservé du contenu 17">
            <a:extLst>
              <a:ext uri="{FF2B5EF4-FFF2-40B4-BE49-F238E27FC236}">
                <a16:creationId xmlns:a16="http://schemas.microsoft.com/office/drawing/2014/main" id="{4510755D-75A4-650E-1368-B842295176D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4735373" y="2668772"/>
            <a:ext cx="6882665" cy="1275214"/>
          </a:xfr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8980CFF-B6DB-E8F1-8EB8-4D3E851CEAD6}"/>
              </a:ext>
            </a:extLst>
          </p:cNvPr>
          <p:cNvSpPr txBox="1"/>
          <p:nvPr/>
        </p:nvSpPr>
        <p:spPr>
          <a:xfrm>
            <a:off x="754444" y="1460752"/>
            <a:ext cx="33838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Compréhension des données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Le contenu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Les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Les lignes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Les types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Leur importance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La sélection des données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EBEE3C2-A4D6-16E3-F00C-4A3FA2DC61FD}"/>
              </a:ext>
            </a:extLst>
          </p:cNvPr>
          <p:cNvSpPr txBox="1"/>
          <p:nvPr/>
        </p:nvSpPr>
        <p:spPr>
          <a:xfrm>
            <a:off x="754444" y="3766032"/>
            <a:ext cx="37809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Choix des données :</a:t>
            </a: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Variables qui répondent </a:t>
            </a:r>
            <a:r>
              <a:rPr lang="fr-FR" sz="2000" b="1" dirty="0"/>
              <a:t>à</a:t>
            </a:r>
            <a:r>
              <a:rPr lang="fr-FR" sz="2000" dirty="0"/>
              <a:t> la problématique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Construction du dictionnaire des données choisies</a:t>
            </a:r>
          </a:p>
        </p:txBody>
      </p:sp>
      <p:pic>
        <p:nvPicPr>
          <p:cNvPr id="2" name="Espace réservé du contenu 17">
            <a:extLst>
              <a:ext uri="{FF2B5EF4-FFF2-40B4-BE49-F238E27FC236}">
                <a16:creationId xmlns:a16="http://schemas.microsoft.com/office/drawing/2014/main" id="{2DBBA3B6-6BE3-534E-42EC-590C7CAF43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79039" y="4581640"/>
            <a:ext cx="6882665" cy="147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9641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925DD-EE90-85FF-DC9E-995BAE86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7868F9D-DB38-F1F7-5687-55B78EF5D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22" y="170121"/>
            <a:ext cx="3932237" cy="1206795"/>
          </a:xfrm>
        </p:spPr>
        <p:txBody>
          <a:bodyPr>
            <a:noAutofit/>
          </a:bodyPr>
          <a:lstStyle/>
          <a:p>
            <a:r>
              <a:rPr lang="fr-FR" sz="4000" b="1" u="sng" dirty="0"/>
              <a:t>Schéma relationnel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4A88CE1-110E-7CB4-0320-70C7D48D0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147" y="1376916"/>
            <a:ext cx="3932237" cy="4768704"/>
          </a:xfrm>
        </p:spPr>
        <p:txBody>
          <a:bodyPr>
            <a:normAutofit lnSpcReduction="10000"/>
          </a:bodyPr>
          <a:lstStyle/>
          <a:p>
            <a:r>
              <a:rPr lang="fr-FR" sz="2000" b="1" dirty="0"/>
              <a:t>Respect des 3 formes normales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Atomicité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Dépendance totale à la clé primaire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Absence de dépendance transitive</a:t>
            </a:r>
          </a:p>
          <a:p>
            <a:r>
              <a:rPr lang="fr-FR" sz="2000" b="1" dirty="0"/>
              <a:t>Différentes clés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Primaire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Étrangère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Artificielle</a:t>
            </a:r>
          </a:p>
          <a:p>
            <a:r>
              <a:rPr lang="fr-FR" sz="2000" b="1" dirty="0"/>
              <a:t>Autres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Relations entre les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Répartition des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Liens entre les données</a:t>
            </a:r>
          </a:p>
          <a:p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7C812A7-82A1-7450-B2E3-B3DF4A8461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2463" y="170121"/>
            <a:ext cx="7206635" cy="6593305"/>
          </a:xfrm>
        </p:spPr>
      </p:pic>
    </p:spTree>
    <p:extLst>
      <p:ext uri="{BB962C8B-B14F-4D97-AF65-F5344CB8AC3E}">
        <p14:creationId xmlns:p14="http://schemas.microsoft.com/office/powerpoint/2010/main" val="116408383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9AC7A-0D55-5574-93C5-508333EE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5B5539F-D3EE-F839-22D6-AEEBED534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19" y="225530"/>
            <a:ext cx="3297865" cy="1219126"/>
          </a:xfrm>
        </p:spPr>
        <p:txBody>
          <a:bodyPr>
            <a:normAutofit/>
          </a:bodyPr>
          <a:lstStyle/>
          <a:p>
            <a:r>
              <a:rPr lang="fr-FR" sz="3200" b="1" u="sng" dirty="0"/>
              <a:t>Création de la base de données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F497A5BE-8033-2232-7EC3-9064DBAAF6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560829" y="39718"/>
            <a:ext cx="5861354" cy="3146713"/>
          </a:xfrm>
        </p:spPr>
      </p:pic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072A15D6-6CAE-1BE6-2830-B1A37ECE80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560829" y="3186431"/>
            <a:ext cx="5861354" cy="3525446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28A8C70-1965-01F1-DFCF-98D099771795}"/>
              </a:ext>
            </a:extLst>
          </p:cNvPr>
          <p:cNvSpPr txBox="1"/>
          <p:nvPr/>
        </p:nvSpPr>
        <p:spPr>
          <a:xfrm>
            <a:off x="450112" y="1305060"/>
            <a:ext cx="47598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Création de la base de données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SQLite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Création des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Insertion des clés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Définition des types de données</a:t>
            </a:r>
          </a:p>
          <a:p>
            <a:endParaRPr lang="fr-FR" sz="2000" dirty="0"/>
          </a:p>
          <a:p>
            <a:r>
              <a:rPr lang="fr-FR" sz="2000" b="1" dirty="0"/>
              <a:t>Préparation des données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Nettoyage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Suppression des doublons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Normalisation des variables</a:t>
            </a:r>
          </a:p>
          <a:p>
            <a:endParaRPr lang="fr-FR" sz="2000" dirty="0"/>
          </a:p>
          <a:p>
            <a:r>
              <a:rPr lang="fr-FR" sz="2000" b="1" dirty="0"/>
              <a:t>Chargement des données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Variables identiques à celles de la base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Respect de l’intégrité des données</a:t>
            </a:r>
          </a:p>
          <a:p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fr-FR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45545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C4E77-B4FE-4071-3B30-E1662DEC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4C67858-7E74-CDB4-F30B-47AD11C5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98" y="300935"/>
            <a:ext cx="5775253" cy="606444"/>
          </a:xfrm>
        </p:spPr>
        <p:txBody>
          <a:bodyPr>
            <a:normAutofit/>
          </a:bodyPr>
          <a:lstStyle/>
          <a:p>
            <a:r>
              <a:rPr lang="fr-FR" sz="3200" b="1" u="sng" dirty="0"/>
              <a:t>Lignes des différentes tables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24EBA0E6-9800-D4D9-BD0B-5796012BE3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922250" y="5208504"/>
            <a:ext cx="4937413" cy="782260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3D70FA4-12ED-ACA4-ED6C-FAC080B4B20C}"/>
              </a:ext>
            </a:extLst>
          </p:cNvPr>
          <p:cNvSpPr txBox="1"/>
          <p:nvPr/>
        </p:nvSpPr>
        <p:spPr>
          <a:xfrm>
            <a:off x="202019" y="1122506"/>
            <a:ext cx="4759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Bien_immo</a:t>
            </a:r>
          </a:p>
          <a:p>
            <a:endParaRPr lang="fr-FR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Espace réservé du contenu 9">
            <a:extLst>
              <a:ext uri="{FF2B5EF4-FFF2-40B4-BE49-F238E27FC236}">
                <a16:creationId xmlns:a16="http://schemas.microsoft.com/office/drawing/2014/main" id="{07E48F20-913F-C321-7532-B94B430B55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934" y="1586284"/>
            <a:ext cx="6573538" cy="646331"/>
          </a:xfrm>
          <a:prstGeom prst="rect">
            <a:avLst/>
          </a:prstGeom>
        </p:spPr>
      </p:pic>
      <p:pic>
        <p:nvPicPr>
          <p:cNvPr id="3" name="Espace réservé du contenu 11">
            <a:extLst>
              <a:ext uri="{FF2B5EF4-FFF2-40B4-BE49-F238E27FC236}">
                <a16:creationId xmlns:a16="http://schemas.microsoft.com/office/drawing/2014/main" id="{BE1E92BE-3ED8-B89F-F29B-51DE9350A5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934" y="5091126"/>
            <a:ext cx="4111257" cy="746117"/>
          </a:xfrm>
          <a:prstGeom prst="rect">
            <a:avLst/>
          </a:prstGeom>
        </p:spPr>
      </p:pic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D96DCF08-BAAE-9D8C-BFD4-AD430FE902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6"/>
          <a:stretch>
            <a:fillRect/>
          </a:stretch>
        </p:blipFill>
        <p:spPr>
          <a:xfrm>
            <a:off x="6922250" y="1646745"/>
            <a:ext cx="5214816" cy="548036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3BE25CF-8B15-7931-2095-78AC8B2CAA59}"/>
              </a:ext>
            </a:extLst>
          </p:cNvPr>
          <p:cNvSpPr txBox="1"/>
          <p:nvPr/>
        </p:nvSpPr>
        <p:spPr>
          <a:xfrm>
            <a:off x="7028121" y="1122448"/>
            <a:ext cx="165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commune</a:t>
            </a:r>
          </a:p>
        </p:txBody>
      </p:sp>
      <p:pic>
        <p:nvPicPr>
          <p:cNvPr id="13" name="Espace réservé du contenu 11">
            <a:extLst>
              <a:ext uri="{FF2B5EF4-FFF2-40B4-BE49-F238E27FC236}">
                <a16:creationId xmlns:a16="http://schemas.microsoft.com/office/drawing/2014/main" id="{91A235F6-0914-4AC1-2641-23E276F3E5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746203" y="3517964"/>
            <a:ext cx="4111257" cy="61605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AF05F47-4A76-7C19-C5A5-EE2510329BB3}"/>
              </a:ext>
            </a:extLst>
          </p:cNvPr>
          <p:cNvSpPr txBox="1"/>
          <p:nvPr/>
        </p:nvSpPr>
        <p:spPr>
          <a:xfrm>
            <a:off x="154171" y="4625386"/>
            <a:ext cx="195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region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0F37CDB-45C6-DEF6-2C97-A47201C0C1ED}"/>
              </a:ext>
            </a:extLst>
          </p:cNvPr>
          <p:cNvSpPr txBox="1"/>
          <p:nvPr/>
        </p:nvSpPr>
        <p:spPr>
          <a:xfrm>
            <a:off x="3746203" y="3051677"/>
            <a:ext cx="143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u="sng" dirty="0"/>
              <a:t>departement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7C5ECFB-2040-F305-914B-BBC0C3861289}"/>
              </a:ext>
            </a:extLst>
          </p:cNvPr>
          <p:cNvSpPr txBox="1"/>
          <p:nvPr/>
        </p:nvSpPr>
        <p:spPr>
          <a:xfrm>
            <a:off x="7028121" y="4745262"/>
            <a:ext cx="179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err="1"/>
              <a:t>Vente_immo</a:t>
            </a: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170649470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80686-3B76-EFF1-0F42-68CAC642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09E11FE-0BDB-CC5E-7D46-A6C45B7D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856" y="166057"/>
            <a:ext cx="7509245" cy="1017108"/>
          </a:xfrm>
        </p:spPr>
        <p:txBody>
          <a:bodyPr>
            <a:normAutofit/>
          </a:bodyPr>
          <a:lstStyle/>
          <a:p>
            <a:r>
              <a:rPr lang="fr-FR" sz="4000" dirty="0"/>
              <a:t>Questions liées à la problématique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C5A718F-D530-444E-6370-9B655F051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9433" y="1254643"/>
            <a:ext cx="7868093" cy="5437300"/>
          </a:xfrm>
        </p:spPr>
      </p:pic>
    </p:spTree>
    <p:extLst>
      <p:ext uri="{BB962C8B-B14F-4D97-AF65-F5344CB8AC3E}">
        <p14:creationId xmlns:p14="http://schemas.microsoft.com/office/powerpoint/2010/main" val="130101407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98ABB-AD83-79ED-C187-08387C3D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F880473-9911-7A37-D161-8A1234B3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90" y="462904"/>
            <a:ext cx="2553586" cy="1155330"/>
          </a:xfrm>
        </p:spPr>
        <p:txBody>
          <a:bodyPr>
            <a:normAutofit/>
          </a:bodyPr>
          <a:lstStyle/>
          <a:p>
            <a:r>
              <a:rPr lang="fr-FR" sz="3200" b="1" u="sng" dirty="0"/>
              <a:t>Requêtes SQL et analyses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6D9091D-3542-8DC0-6377-9157C07BEC8B}"/>
              </a:ext>
            </a:extLst>
          </p:cNvPr>
          <p:cNvSpPr txBox="1"/>
          <p:nvPr/>
        </p:nvSpPr>
        <p:spPr>
          <a:xfrm>
            <a:off x="366822" y="1742739"/>
            <a:ext cx="407492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Vérification de la fiabilité des données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Exploration des données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Requêtes sur la base de données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Réponse aux questions</a:t>
            </a:r>
          </a:p>
          <a:p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308F1486-3325-B043-6A56-D8830F7B3F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4342196" y="1618234"/>
            <a:ext cx="7732440" cy="4606468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2C9FCA3-EEC8-002B-8744-2747B5673CE3}"/>
              </a:ext>
            </a:extLst>
          </p:cNvPr>
          <p:cNvSpPr txBox="1"/>
          <p:nvPr/>
        </p:nvSpPr>
        <p:spPr>
          <a:xfrm>
            <a:off x="5422731" y="798644"/>
            <a:ext cx="5988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1. Nombre total d’appartements vendus au 1er semestre 2020. </a:t>
            </a:r>
            <a:endParaRPr lang="fr-FR" b="1" u="sng" dirty="0">
              <a:effectLst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63983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C447F-CDFA-D403-CDED-34EBC1C01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B3976E1-7E92-BE64-C496-4C6D8D2E16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94114" y="2003683"/>
            <a:ext cx="6363021" cy="4123420"/>
          </a:xfrm>
        </p:spPr>
      </p:pic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67B303E1-2FBB-357C-50B3-A5180D2561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578599" y="1944649"/>
            <a:ext cx="5519287" cy="4182454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8433504-B6B7-C3DC-36F9-4546AB2BDBDE}"/>
              </a:ext>
            </a:extLst>
          </p:cNvPr>
          <p:cNvSpPr txBox="1"/>
          <p:nvPr/>
        </p:nvSpPr>
        <p:spPr>
          <a:xfrm>
            <a:off x="2307265" y="1116419"/>
            <a:ext cx="7389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 startAt="2"/>
            </a:pPr>
            <a:r>
              <a:rPr lang="fr-FR" sz="1800" b="1" u="sng" dirty="0">
                <a:effectLst/>
                <a:latin typeface="Montserrat" pitchFamily="2" charset="77"/>
              </a:rPr>
              <a:t>Le nombre de ventes d’appartement par région pour le 1er semestre 2020. </a:t>
            </a:r>
          </a:p>
        </p:txBody>
      </p:sp>
    </p:spTree>
    <p:extLst>
      <p:ext uri="{BB962C8B-B14F-4D97-AF65-F5344CB8AC3E}">
        <p14:creationId xmlns:p14="http://schemas.microsoft.com/office/powerpoint/2010/main" val="150834133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8900A-7839-8FB3-25D0-96CF931B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D7322F17-37F1-39CB-3197-40DD6B9D6E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389269" y="1453140"/>
            <a:ext cx="4621853" cy="5192209"/>
          </a:xfr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DA65EF70-9A35-5308-CF37-F2419688A0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720142" y="1453140"/>
            <a:ext cx="5082590" cy="4788171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3785DB5-1DF7-528F-0DA2-A9547EED80AF}"/>
              </a:ext>
            </a:extLst>
          </p:cNvPr>
          <p:cNvSpPr txBox="1"/>
          <p:nvPr/>
        </p:nvSpPr>
        <p:spPr>
          <a:xfrm>
            <a:off x="2955851" y="529810"/>
            <a:ext cx="5635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latin typeface="Montserrat" pitchFamily="2" charset="77"/>
              </a:rPr>
              <a:t>3</a:t>
            </a:r>
            <a:r>
              <a:rPr lang="fr-FR" sz="1800" b="1" u="sng" dirty="0">
                <a:effectLst/>
                <a:latin typeface="Montserrat" pitchFamily="2" charset="77"/>
              </a:rPr>
              <a:t>. Proportion des ventes d’appartements par le nombre de pièces. </a:t>
            </a:r>
          </a:p>
        </p:txBody>
      </p:sp>
    </p:spTree>
    <p:extLst>
      <p:ext uri="{BB962C8B-B14F-4D97-AF65-F5344CB8AC3E}">
        <p14:creationId xmlns:p14="http://schemas.microsoft.com/office/powerpoint/2010/main" val="32625532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EF0C5-8629-B5D0-818C-7B70D401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66A50C7-9F54-A72D-CB98-1512489172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304207" y="1481842"/>
            <a:ext cx="4724991" cy="5308075"/>
          </a:xfr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2C640A9E-AFA0-4B06-B38A-32DDA4C1B3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096000" y="1481842"/>
            <a:ext cx="5706731" cy="5376158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6AE9687-3C1A-FA5E-8489-F8A4EC052712}"/>
              </a:ext>
            </a:extLst>
          </p:cNvPr>
          <p:cNvSpPr txBox="1"/>
          <p:nvPr/>
        </p:nvSpPr>
        <p:spPr>
          <a:xfrm>
            <a:off x="1584250" y="882500"/>
            <a:ext cx="878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4. Liste des 10 départements où le prix du mètre carré est  le plus élevé. </a:t>
            </a:r>
          </a:p>
        </p:txBody>
      </p:sp>
    </p:spTree>
    <p:extLst>
      <p:ext uri="{BB962C8B-B14F-4D97-AF65-F5344CB8AC3E}">
        <p14:creationId xmlns:p14="http://schemas.microsoft.com/office/powerpoint/2010/main" val="244999040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BD1E7-9CDF-3380-2E0B-17BCD030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1D69EDF9-25F6-B318-43E5-2E475C772D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2355112" y="1258412"/>
            <a:ext cx="7017488" cy="5195927"/>
          </a:xfr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D244544-C9DA-A4C6-90D6-45FA1DF9002A}"/>
              </a:ext>
            </a:extLst>
          </p:cNvPr>
          <p:cNvSpPr txBox="1"/>
          <p:nvPr/>
        </p:nvSpPr>
        <p:spPr>
          <a:xfrm>
            <a:off x="2094615" y="612081"/>
            <a:ext cx="7538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latin typeface="Montserrat" pitchFamily="2" charset="77"/>
              </a:rPr>
              <a:t>5</a:t>
            </a:r>
            <a:r>
              <a:rPr lang="fr-FR" sz="1800" b="1" u="sng" dirty="0">
                <a:effectLst/>
                <a:latin typeface="Montserrat" pitchFamily="2" charset="77"/>
              </a:rPr>
              <a:t>. Prix moyen du mètre carré d’une maison en Île-de-France. </a:t>
            </a:r>
          </a:p>
        </p:txBody>
      </p:sp>
    </p:spTree>
    <p:extLst>
      <p:ext uri="{BB962C8B-B14F-4D97-AF65-F5344CB8AC3E}">
        <p14:creationId xmlns:p14="http://schemas.microsoft.com/office/powerpoint/2010/main" val="362579994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9BB45-DE25-860A-7FAD-F96D78D28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5627805-25AA-394D-4D04-3CE71157FC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293575" y="1304439"/>
            <a:ext cx="4788788" cy="5379745"/>
          </a:xfr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F4A54392-2A39-8C94-1880-8DB22DDC17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276754" y="1316385"/>
            <a:ext cx="5706731" cy="5376158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629A5AF-7A8C-0B0E-7396-F2A4DC18C8A3}"/>
              </a:ext>
            </a:extLst>
          </p:cNvPr>
          <p:cNvSpPr txBox="1"/>
          <p:nvPr/>
        </p:nvSpPr>
        <p:spPr>
          <a:xfrm>
            <a:off x="2254102" y="456850"/>
            <a:ext cx="6198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6. Liste des 10 appartements les plus chers avec la région et le nombre de mètres carrés. </a:t>
            </a:r>
            <a:endParaRPr lang="fr-FR" b="1" u="sng" dirty="0">
              <a:effectLst/>
            </a:endParaRPr>
          </a:p>
          <a:p>
            <a:endParaRPr lang="fr-FR" sz="1800" b="1" u="sng" dirty="0">
              <a:effectLst/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7051834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2F79B-2F60-BF29-46C2-B070BDF2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D833871-E74B-769F-8A0A-F7640928AC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5269612" y="238665"/>
            <a:ext cx="5894574" cy="6380670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67158FE-6A8A-6EDA-339B-4761BDE211EF}"/>
              </a:ext>
            </a:extLst>
          </p:cNvPr>
          <p:cNvSpPr txBox="1"/>
          <p:nvPr/>
        </p:nvSpPr>
        <p:spPr>
          <a:xfrm>
            <a:off x="1027814" y="882503"/>
            <a:ext cx="3012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7. Taux d’évolution du nombre de ventes entre le premier et le second </a:t>
            </a:r>
          </a:p>
          <a:p>
            <a:r>
              <a:rPr lang="fr-FR" sz="1800" b="1" u="sng" dirty="0">
                <a:effectLst/>
                <a:latin typeface="Montserrat" pitchFamily="2" charset="77"/>
              </a:rPr>
              <a:t>trimestre de 2020. </a:t>
            </a:r>
          </a:p>
        </p:txBody>
      </p:sp>
    </p:spTree>
    <p:extLst>
      <p:ext uri="{BB962C8B-B14F-4D97-AF65-F5344CB8AC3E}">
        <p14:creationId xmlns:p14="http://schemas.microsoft.com/office/powerpoint/2010/main" val="167227461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5B56B-85A0-4FE0-DA36-61396151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4D18FE49-F1E4-70C7-7363-18EFD10583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197881" y="1401446"/>
            <a:ext cx="4724991" cy="5308075"/>
          </a:xfr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303430B9-698A-892F-C1C7-01A85E1E73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287388" y="1401446"/>
            <a:ext cx="5706731" cy="5376158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57EB136-59DF-5321-A0DC-DFD4A000CB9B}"/>
              </a:ext>
            </a:extLst>
          </p:cNvPr>
          <p:cNvSpPr txBox="1"/>
          <p:nvPr/>
        </p:nvSpPr>
        <p:spPr>
          <a:xfrm>
            <a:off x="1669312" y="478116"/>
            <a:ext cx="8293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8. Le classement des régions par rapport au prix au mètre carré des appartements de plus de 4 pièces. </a:t>
            </a:r>
          </a:p>
        </p:txBody>
      </p:sp>
    </p:spTree>
    <p:extLst>
      <p:ext uri="{BB962C8B-B14F-4D97-AF65-F5344CB8AC3E}">
        <p14:creationId xmlns:p14="http://schemas.microsoft.com/office/powerpoint/2010/main" val="31572501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74908-B6DD-8983-4894-A8E1646A9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BB579128-1316-7CE4-1E89-A48847915A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112822" y="1436325"/>
            <a:ext cx="4724991" cy="5308075"/>
          </a:xfr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C7197E43-2DA4-4DAA-064C-9FC2FDDBD0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372447" y="1368242"/>
            <a:ext cx="5706731" cy="5376158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5333120-C406-036A-8244-0657CA163AB0}"/>
              </a:ext>
            </a:extLst>
          </p:cNvPr>
          <p:cNvSpPr txBox="1"/>
          <p:nvPr/>
        </p:nvSpPr>
        <p:spPr>
          <a:xfrm>
            <a:off x="3062176" y="444912"/>
            <a:ext cx="5284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9. Liste des communes ayant eu  au moins 50 ventes au 1</a:t>
            </a:r>
            <a:r>
              <a:rPr lang="fr-FR" sz="1800" b="1" u="sng" baseline="30000" dirty="0">
                <a:effectLst/>
                <a:latin typeface="Montserrat" pitchFamily="2" charset="77"/>
              </a:rPr>
              <a:t>er</a:t>
            </a:r>
            <a:r>
              <a:rPr lang="fr-FR" sz="1800" b="1" u="sng" dirty="0">
                <a:effectLst/>
                <a:latin typeface="Montserrat" pitchFamily="2" charset="77"/>
              </a:rPr>
              <a:t> trimestre </a:t>
            </a:r>
          </a:p>
        </p:txBody>
      </p:sp>
    </p:spTree>
    <p:extLst>
      <p:ext uri="{BB962C8B-B14F-4D97-AF65-F5344CB8AC3E}">
        <p14:creationId xmlns:p14="http://schemas.microsoft.com/office/powerpoint/2010/main" val="407637699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78836-E0C3-818E-A95D-6421D937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7347C68B-7B17-DF2D-CE64-96364CEE13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4752753" y="239634"/>
            <a:ext cx="7262037" cy="6501067"/>
          </a:xfr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A2BBF79-3A0A-985C-D950-B3BC29D1B351}"/>
              </a:ext>
            </a:extLst>
          </p:cNvPr>
          <p:cNvSpPr txBox="1"/>
          <p:nvPr/>
        </p:nvSpPr>
        <p:spPr>
          <a:xfrm>
            <a:off x="425301" y="1541721"/>
            <a:ext cx="3987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10. Différence en pourcentage du prix au mètre carré entre un </a:t>
            </a:r>
            <a:endParaRPr lang="fr-FR" b="1" u="sng" dirty="0">
              <a:effectLst/>
            </a:endParaRPr>
          </a:p>
          <a:p>
            <a:r>
              <a:rPr lang="fr-FR" sz="1800" b="1" u="sng" dirty="0">
                <a:effectLst/>
                <a:latin typeface="Montserrat" pitchFamily="2" charset="77"/>
              </a:rPr>
              <a:t>appartement de 2 pièces et un appartement de 3 pièces. </a:t>
            </a:r>
            <a:endParaRPr lang="fr-FR" b="1" u="sng" dirty="0">
              <a:effectLst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38625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166DB-3855-907D-3FAD-9C950CBC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0AEFD79-04DE-A744-E805-D2FEE18FF1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102189" y="1297172"/>
            <a:ext cx="5277885" cy="5465511"/>
          </a:xfr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4CB6F64A-5EE4-32E8-40DB-F8CFE2DF79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298019" y="1386525"/>
            <a:ext cx="5706731" cy="5376158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0941CEE-E935-8BFE-929A-FD66DC2A82BD}"/>
              </a:ext>
            </a:extLst>
          </p:cNvPr>
          <p:cNvSpPr txBox="1"/>
          <p:nvPr/>
        </p:nvSpPr>
        <p:spPr>
          <a:xfrm>
            <a:off x="2736111" y="463195"/>
            <a:ext cx="6719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 startAt="11"/>
            </a:pPr>
            <a:r>
              <a:rPr lang="fr-FR" sz="1800" b="1" u="sng" dirty="0">
                <a:effectLst/>
                <a:latin typeface="Montserrat" pitchFamily="2" charset="77"/>
              </a:rPr>
              <a:t>Les moyennes de valeurs foncières pour le top 3 des communes des départements 6, 13, 33, 59 et 69. </a:t>
            </a:r>
          </a:p>
        </p:txBody>
      </p:sp>
    </p:spTree>
    <p:extLst>
      <p:ext uri="{BB962C8B-B14F-4D97-AF65-F5344CB8AC3E}">
        <p14:creationId xmlns:p14="http://schemas.microsoft.com/office/powerpoint/2010/main" val="35755862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7EA71-2712-519E-517C-30ED29FD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70D8C19-0AD3-E329-52E2-CEB6C08EC3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91558" y="1389507"/>
            <a:ext cx="5798879" cy="5439466"/>
          </a:xfr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D8A21207-117A-524A-1237-7A97BE094B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/>
        </p:blipFill>
        <p:spPr>
          <a:xfrm>
            <a:off x="6393711" y="1389507"/>
            <a:ext cx="5706731" cy="5376158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7D6933E-2EA5-E6B1-1728-7F8C609B8C2E}"/>
              </a:ext>
            </a:extLst>
          </p:cNvPr>
          <p:cNvSpPr txBox="1"/>
          <p:nvPr/>
        </p:nvSpPr>
        <p:spPr>
          <a:xfrm>
            <a:off x="2115879" y="467833"/>
            <a:ext cx="8325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>
                <a:effectLst/>
                <a:latin typeface="Montserrat" pitchFamily="2" charset="77"/>
              </a:rPr>
              <a:t>12. 20 communes avec le plus de transactions pour 1000 habitants </a:t>
            </a:r>
          </a:p>
          <a:p>
            <a:r>
              <a:rPr lang="fr-FR" sz="1800" b="1" u="sng" dirty="0">
                <a:effectLst/>
                <a:latin typeface="Montserrat" pitchFamily="2" charset="77"/>
              </a:rPr>
              <a:t>pour les communes qui dépassent les 10 000 habitants</a:t>
            </a:r>
            <a:r>
              <a:rPr lang="fr-FR" sz="1800" dirty="0">
                <a:effectLst/>
                <a:latin typeface="Montserrat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340629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76AA9-24C8-D778-8A3B-E6BD2224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F9B02DE3-A8CB-8987-185B-E5B44A461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763" y="329608"/>
            <a:ext cx="3381154" cy="851823"/>
          </a:xfrm>
        </p:spPr>
        <p:txBody>
          <a:bodyPr>
            <a:normAutofit fontScale="90000"/>
          </a:bodyPr>
          <a:lstStyle/>
          <a:p>
            <a:r>
              <a:rPr lang="fr-FR" b="1" u="sng" dirty="0"/>
              <a:t>conclusion</a:t>
            </a:r>
          </a:p>
        </p:txBody>
      </p:sp>
      <p:sp>
        <p:nvSpPr>
          <p:cNvPr id="11" name="Sous-titre 10">
            <a:extLst>
              <a:ext uri="{FF2B5EF4-FFF2-40B4-BE49-F238E27FC236}">
                <a16:creationId xmlns:a16="http://schemas.microsoft.com/office/drawing/2014/main" id="{F60281A2-03D1-632B-B6EF-38E22BF88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052" y="1446028"/>
            <a:ext cx="9654363" cy="4497571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FR" sz="2100" dirty="0"/>
              <a:t>Pour conclure, ce projet m’a permis de mettre en œuvre l’ensemble du processus d’ingénierie des données, depuis la collecte et le nettoyage jusqu’à la modélisation et l’analyse.</a:t>
            </a:r>
          </a:p>
          <a:p>
            <a:pPr algn="l"/>
            <a:endParaRPr lang="fr-FR" sz="21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FR" sz="2100" dirty="0"/>
              <a:t>Le Proof of Concept réalisé pour Laplace Immo démontre qu’il est possible de structurer les données DVF pour obtenir des indicateurs pertinents sur le marché immobilier français.</a:t>
            </a:r>
          </a:p>
          <a:p>
            <a:pPr algn="l"/>
            <a:endParaRPr lang="fr-FR" sz="21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FR" sz="2100" dirty="0"/>
              <a:t>Ce travail ouvre la voie à une automatisation complète et à une exploitation visuelle via des tableaux de bord dynamiques.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fr-FR" sz="2100" dirty="0"/>
          </a:p>
          <a:p>
            <a:pPr algn="l"/>
            <a:r>
              <a:rPr lang="fr-FR" sz="2100" b="1" dirty="0"/>
              <a:t>Difficultés rencontrées 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100" dirty="0"/>
              <a:t>Les principales difficultés rencontrées concernent le chargement des données dans SQL, car ce langage est très exigeant quant à l’authenticité et l’identité des variables.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21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100" dirty="0"/>
              <a:t>J’ai également rencontré des difficultés lors de la rédaction et de l’exécution des requêtes SQL, notamment pour garantir la cohérence entre les différentes tables et obtenir les résultats attendus.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fr-FR" sz="2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fr-FR" sz="2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fr-FR" sz="22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428682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693</Words>
  <Application>Microsoft Macintosh PowerPoint</Application>
  <PresentationFormat>Grand écran</PresentationFormat>
  <Paragraphs>110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Montserrat</vt:lpstr>
      <vt:lpstr>Thème Office</vt:lpstr>
      <vt:lpstr>Introduction du projet : </vt:lpstr>
      <vt:lpstr>Présentation PowerPoint</vt:lpstr>
      <vt:lpstr>Données et méthodologie</vt:lpstr>
      <vt:lpstr>Schéma relationnel</vt:lpstr>
      <vt:lpstr>Création de la base de données</vt:lpstr>
      <vt:lpstr>Lignes des différentes tables</vt:lpstr>
      <vt:lpstr>Questions liées à la problématique</vt:lpstr>
      <vt:lpstr>Requêtes SQL et analyses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Aime Endaye</dc:creator>
  <cp:lastModifiedBy>Aime Endaye</cp:lastModifiedBy>
  <cp:revision>6</cp:revision>
  <dcterms:created xsi:type="dcterms:W3CDTF">2025-10-28T10:57:57Z</dcterms:created>
  <dcterms:modified xsi:type="dcterms:W3CDTF">2025-11-19T13:48:07Z</dcterms:modified>
</cp:coreProperties>
</file>