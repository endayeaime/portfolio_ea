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3" r:id="rId7"/>
    <p:sldId id="272" r:id="rId8"/>
    <p:sldId id="271" r:id="rId9"/>
    <p:sldId id="270" r:id="rId10"/>
    <p:sldId id="269" r:id="rId11"/>
    <p:sldId id="267" r:id="rId12"/>
    <p:sldId id="278" r:id="rId13"/>
    <p:sldId id="266" r:id="rId14"/>
    <p:sldId id="265" r:id="rId15"/>
    <p:sldId id="264" r:id="rId16"/>
    <p:sldId id="263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679"/>
  </p:normalViewPr>
  <p:slideViewPr>
    <p:cSldViewPr snapToGrid="0">
      <p:cViewPr varScale="1">
        <p:scale>
          <a:sx n="139" d="100"/>
          <a:sy n="139" d="100"/>
        </p:scale>
        <p:origin x="5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f22bfd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" name="Google Shape;58;g301f22bfd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0" name="Google Shape;70;g301f22bfd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C658CBB-6542-60B7-2EB5-B62BC0A9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1F0E107C-8EFD-77ED-CBB3-6754C15D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9AAB6E14-C44B-FFB5-F566-BEFF93D24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000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5F2D94C-8F8E-A45E-7640-AE9840BD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722E8ABC-A74C-7C00-9CAF-636D45E20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CA09BA0A-1CAD-987F-E884-54C163E91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657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49C29D-B10D-FD00-107D-AA4BE6AA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A87CA17E-5363-1EB0-3B54-8AC13A284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E53712E1-E11A-F732-25C0-561460041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853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CE019E2-94FF-3857-1B7A-52E443FD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D39BAEFE-6EAF-6D63-C6DB-D626A67A2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CFF338C3-04DA-D695-86B3-5EF911D10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547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F095D6E-812E-EA6D-D995-00048F99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4FC75ED0-E9EF-F50B-EDC8-E277A359CB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4C15785C-A961-B182-01F9-BCA16F069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13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29EAF6F1-2578-867F-6A30-2F3E9E54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A789057B-4E55-B766-B5EB-F6AE2DCD0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9A1A2B4D-A49B-74CC-7B7E-94ED212AE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006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2C5ADF-CD66-4C02-4E42-3C96785A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B18F7D08-FD8C-5192-AA3F-F53611BFE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9FE98A44-03DE-1E22-E2ED-2AAC62A28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220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AB26BA99-1AE7-878E-77B9-2FF2F84D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43042BCB-1C5D-1326-C776-A6440C956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0057DE8E-46EB-ECBA-1337-0E1F9534E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120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A9BC7FF-0436-3AEF-37CB-70A4C72C6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65586430-A639-CAA5-CB4D-A21BA4F21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8D4FC382-D803-7968-F62C-022D53B57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927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5FAD84F-498D-941D-4966-68F5E3DB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A337E496-1CA3-FE5B-CAB2-017640196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909D99F5-04E0-40A0-4E49-0894747B4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66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F657CAD0-93C0-831D-595D-1389FE7F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>
            <a:extLst>
              <a:ext uri="{FF2B5EF4-FFF2-40B4-BE49-F238E27FC236}">
                <a16:creationId xmlns:a16="http://schemas.microsoft.com/office/drawing/2014/main" id="{C3F82B09-0D51-D543-CA41-39BA78E61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6" name="Google Shape;76;g301f22bfd96_0_15:notes">
            <a:extLst>
              <a:ext uri="{FF2B5EF4-FFF2-40B4-BE49-F238E27FC236}">
                <a16:creationId xmlns:a16="http://schemas.microsoft.com/office/drawing/2014/main" id="{62FA176A-14BB-3364-B5BB-9B065658F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41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DDB9323-DC81-DFB7-8F70-34DBA72AEE58}"/>
              </a:ext>
            </a:extLst>
          </p:cNvPr>
          <p:cNvSpPr txBox="1"/>
          <p:nvPr/>
        </p:nvSpPr>
        <p:spPr>
          <a:xfrm>
            <a:off x="3240505" y="0"/>
            <a:ext cx="20934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</a:rPr>
              <a:t>Contexte du projet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1E42341-1E5F-2473-4D3B-819D34E1CB9A}"/>
              </a:ext>
            </a:extLst>
          </p:cNvPr>
          <p:cNvSpPr txBox="1"/>
          <p:nvPr/>
        </p:nvSpPr>
        <p:spPr>
          <a:xfrm>
            <a:off x="64168" y="518119"/>
            <a:ext cx="82857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Contexte</a:t>
            </a:r>
            <a:br>
              <a:rPr lang="fr-FR" dirty="0"/>
            </a:br>
            <a:r>
              <a:rPr lang="fr-FR" dirty="0"/>
              <a:t>La croissance des plateformes de locations de courte durée génère un volume important de données de réservation, difficiles à stocker et analyser avec des solutions classiques.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AF0BEC3-EABF-12BB-4DCA-2817D3B14C75}"/>
              </a:ext>
            </a:extLst>
          </p:cNvPr>
          <p:cNvSpPr txBox="1"/>
          <p:nvPr/>
        </p:nvSpPr>
        <p:spPr>
          <a:xfrm>
            <a:off x="0" y="1620832"/>
            <a:ext cx="9071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Problématique :</a:t>
            </a:r>
            <a:br>
              <a:rPr lang="fr-FR" dirty="0"/>
            </a:br>
            <a:r>
              <a:rPr lang="fr-FR" dirty="0"/>
              <a:t>Comment migrer et organiser ces données afin de garantir performance, évolutivité et exploitation analytique ?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A51456C-755A-57EE-82DD-33DC426D4613}"/>
              </a:ext>
            </a:extLst>
          </p:cNvPr>
          <p:cNvSpPr txBox="1"/>
          <p:nvPr/>
        </p:nvSpPr>
        <p:spPr>
          <a:xfrm>
            <a:off x="0" y="2723545"/>
            <a:ext cx="90718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Enjeux et objectifs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Migrer les données de réservation vers une base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Organiser les données pour faciliter leur exploitation et leur analyse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Sécuriser et rendre les données disponibles via une architecture fiable et scalable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CD6D742-0F04-B864-F8C4-C2DFDA4A5CC1}"/>
              </a:ext>
            </a:extLst>
          </p:cNvPr>
          <p:cNvSpPr txBox="1"/>
          <p:nvPr/>
        </p:nvSpPr>
        <p:spPr>
          <a:xfrm>
            <a:off x="1949114" y="-27146"/>
            <a:ext cx="4572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1800" b="1" u="sng" dirty="0"/>
              <a:t>Sommaire :</a:t>
            </a:r>
          </a:p>
          <a:p>
            <a:pPr algn="ctr">
              <a:buNone/>
            </a:pPr>
            <a:endParaRPr lang="fr-FR" sz="1800" b="1" u="sng" dirty="0"/>
          </a:p>
          <a:p>
            <a:pPr algn="ctr"/>
            <a:r>
              <a:rPr lang="fr-FR" b="1" dirty="0"/>
              <a:t>1. Présentation du projet</a:t>
            </a:r>
            <a:r>
              <a:rPr lang="fr-FR" dirty="0"/>
              <a:t> : </a:t>
            </a:r>
          </a:p>
          <a:p>
            <a:pPr algn="ctr"/>
            <a:r>
              <a:rPr lang="fr-FR" dirty="0"/>
              <a:t>contexte</a:t>
            </a:r>
          </a:p>
          <a:p>
            <a:pPr algn="ctr"/>
            <a:r>
              <a:rPr lang="fr-FR" dirty="0"/>
              <a:t>problématique et objectifs</a:t>
            </a:r>
          </a:p>
          <a:p>
            <a:pPr algn="ctr"/>
            <a:endParaRPr lang="fr-FR" dirty="0"/>
          </a:p>
          <a:p>
            <a:pPr algn="ctr"/>
            <a:r>
              <a:rPr lang="fr-FR" b="1" dirty="0"/>
              <a:t>2. Description des données et premières analyses</a:t>
            </a:r>
            <a:endParaRPr lang="fr-FR" dirty="0"/>
          </a:p>
          <a:p>
            <a:pPr marL="457200" lvl="1" algn="ctr"/>
            <a:r>
              <a:rPr lang="fr-FR" dirty="0"/>
              <a:t>Description d’un document et types de données</a:t>
            </a:r>
          </a:p>
          <a:p>
            <a:pPr marL="457200" lvl="1" algn="ctr"/>
            <a:r>
              <a:rPr lang="fr-FR" dirty="0"/>
              <a:t>Bénéfices du NoSQL dans ce contexte</a:t>
            </a:r>
          </a:p>
          <a:p>
            <a:pPr marL="457200" lvl="1" algn="ctr"/>
            <a:r>
              <a:rPr lang="fr-FR" dirty="0"/>
              <a:t>Premières requêtes et résultats</a:t>
            </a:r>
          </a:p>
          <a:p>
            <a:pPr marL="457200" lvl="1" algn="ctr"/>
            <a:endParaRPr lang="fr-FR" dirty="0"/>
          </a:p>
          <a:p>
            <a:pPr algn="ctr"/>
            <a:r>
              <a:rPr lang="fr-FR" b="1" dirty="0"/>
              <a:t>3. Analyses avancées et Business Intelligence</a:t>
            </a:r>
            <a:endParaRPr lang="fr-FR" dirty="0"/>
          </a:p>
          <a:p>
            <a:pPr marL="457200" lvl="1" algn="ctr"/>
            <a:r>
              <a:rPr lang="fr-FR" dirty="0"/>
              <a:t>Requêtes et résultats</a:t>
            </a:r>
          </a:p>
          <a:p>
            <a:pPr marL="457200" lvl="1" algn="ctr"/>
            <a:r>
              <a:rPr lang="fr-FR" dirty="0"/>
              <a:t>Mise à disposition de la base MongoDB pour un outil de BI</a:t>
            </a:r>
          </a:p>
          <a:p>
            <a:pPr marL="457200" lvl="1" algn="ctr"/>
            <a:endParaRPr lang="fr-FR" dirty="0"/>
          </a:p>
          <a:p>
            <a:pPr algn="ctr"/>
            <a:r>
              <a:rPr lang="fr-FR" b="1" dirty="0"/>
              <a:t>4. Architecture de la base de données</a:t>
            </a:r>
          </a:p>
          <a:p>
            <a:pPr algn="ctr"/>
            <a:r>
              <a:rPr lang="fr-FR" dirty="0"/>
              <a:t>Requêtes avancées et résultats</a:t>
            </a:r>
          </a:p>
          <a:p>
            <a:pPr marL="457200" lvl="1" algn="ctr"/>
            <a:r>
              <a:rPr lang="fr-FR" dirty="0"/>
              <a:t>Schéma de la base de données</a:t>
            </a:r>
          </a:p>
          <a:p>
            <a:pPr marL="457200" lvl="1" algn="ctr"/>
            <a:r>
              <a:rPr lang="fr-FR" dirty="0"/>
              <a:t>Réplication des données</a:t>
            </a:r>
          </a:p>
          <a:p>
            <a:pPr marL="457200" lvl="1" algn="ctr"/>
            <a:r>
              <a:rPr lang="fr-FR" dirty="0"/>
              <a:t>Distribution des données</a:t>
            </a:r>
          </a:p>
          <a:p>
            <a:pPr marL="457200" lvl="1" algn="ctr"/>
            <a:endParaRPr lang="fr-FR" dirty="0"/>
          </a:p>
          <a:p>
            <a:pPr algn="ctr"/>
            <a:r>
              <a:rPr lang="fr-FR" b="1" dirty="0"/>
              <a:t>5. Conclusion et perspectives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56651A6C-2DC0-159F-C5AF-44F43E853F7D}"/>
              </a:ext>
            </a:extLst>
          </p:cNvPr>
          <p:cNvSpPr txBox="1"/>
          <p:nvPr/>
        </p:nvSpPr>
        <p:spPr>
          <a:xfrm>
            <a:off x="1892967" y="24063"/>
            <a:ext cx="5478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Description des données et premières analyses</a:t>
            </a:r>
            <a:endParaRPr lang="fr-FR" sz="16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6662D4B-863C-6EB9-D9A6-6C9AEED2B1A4}"/>
              </a:ext>
            </a:extLst>
          </p:cNvPr>
          <p:cNvSpPr txBox="1"/>
          <p:nvPr/>
        </p:nvSpPr>
        <p:spPr>
          <a:xfrm>
            <a:off x="0" y="2811113"/>
            <a:ext cx="9079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/>
              <a:t>Description d’un document MongoDB :</a:t>
            </a:r>
          </a:p>
          <a:p>
            <a:pPr>
              <a:buNone/>
            </a:pPr>
            <a:endParaRPr lang="fr-FR" sz="1200" b="1" dirty="0"/>
          </a:p>
          <a:p>
            <a:pPr>
              <a:buNone/>
            </a:pPr>
            <a:r>
              <a:rPr lang="fr-FR" sz="1200" dirty="0"/>
              <a:t>Chaque document représente </a:t>
            </a:r>
            <a:r>
              <a:rPr lang="fr-FR" sz="1200" b="1" dirty="0"/>
              <a:t>une annonce de réservation</a:t>
            </a:r>
            <a:r>
              <a:rPr lang="fr-FR" sz="1200" dirty="0"/>
              <a:t> issue d’une plateforme de location de courte durée.</a:t>
            </a:r>
          </a:p>
          <a:p>
            <a:pPr>
              <a:buNone/>
            </a:pPr>
            <a:r>
              <a:rPr lang="fr-FR" sz="1200" dirty="0"/>
              <a:t>Il regroupe des informations hétérogènes telles que :</a:t>
            </a:r>
          </a:p>
          <a:p>
            <a:pPr>
              <a:buNone/>
            </a:pPr>
            <a:endParaRPr lang="fr-FR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l’identification de l’annonce (id, URL, source),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les caractéristiques du logement (nom, description, images),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les informations sur l’hôte (profil, localisation, statut),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des données optionnelles ou manquantes selon les annonces.</a:t>
            </a:r>
          </a:p>
          <a:p>
            <a:endParaRPr lang="fr-FR" sz="1200" dirty="0"/>
          </a:p>
          <a:p>
            <a:pPr>
              <a:buNone/>
            </a:pPr>
            <a:r>
              <a:rPr lang="fr-FR" sz="1200" dirty="0"/>
              <a:t>Les données sont stockées sous forme de </a:t>
            </a:r>
            <a:r>
              <a:rPr lang="fr-FR" sz="1200" b="1" dirty="0"/>
              <a:t>champs simples</a:t>
            </a:r>
            <a:r>
              <a:rPr lang="fr-FR" sz="1200" dirty="0"/>
              <a:t>, </a:t>
            </a:r>
            <a:r>
              <a:rPr lang="fr-FR" sz="1200" b="1" dirty="0"/>
              <a:t>objets imbriqués</a:t>
            </a:r>
            <a:r>
              <a:rPr lang="fr-FR" sz="1200" dirty="0"/>
              <a:t> et </a:t>
            </a:r>
            <a:r>
              <a:rPr lang="fr-FR" sz="1200" b="1" dirty="0"/>
              <a:t>valeurs nulles</a:t>
            </a:r>
            <a:r>
              <a:rPr lang="fr-FR" sz="1200" dirty="0"/>
              <a:t>, ce qui illustre la flexibilité du modèle </a:t>
            </a:r>
            <a:r>
              <a:rPr lang="fr-FR" sz="1200" b="1" dirty="0"/>
              <a:t>NoSQL orienté document</a:t>
            </a:r>
            <a:r>
              <a:rPr lang="fr-FR" sz="1200" dirty="0"/>
              <a:t>.</a:t>
            </a:r>
          </a:p>
        </p:txBody>
      </p:sp>
      <p:pic>
        <p:nvPicPr>
          <p:cNvPr id="12" name="Image 11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DEFDC23E-CA26-5E98-08CF-F3A023CED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258"/>
            <a:ext cx="5759116" cy="245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34865A5-DC8C-D6E0-32CE-7C4EF8B04EC2}"/>
              </a:ext>
            </a:extLst>
          </p:cNvPr>
          <p:cNvSpPr txBox="1"/>
          <p:nvPr/>
        </p:nvSpPr>
        <p:spPr>
          <a:xfrm>
            <a:off x="1981200" y="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/>
              <a:t>Description des données et premières analyses</a:t>
            </a:r>
            <a:endParaRPr lang="fr-FR" sz="1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B1AEE5-711B-5893-A5EA-6E5E3EB71FD5}"/>
              </a:ext>
            </a:extLst>
          </p:cNvPr>
          <p:cNvSpPr txBox="1"/>
          <p:nvPr/>
        </p:nvSpPr>
        <p:spPr>
          <a:xfrm>
            <a:off x="-1" y="307777"/>
            <a:ext cx="89996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Bénéfices du NoSQL dans ce contexte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Schéma flexible adapté à des données hétérogènes et évolutives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imbriquées permettant d’éviter des jointures complexes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Bonne gestion des volumes importants et des performances à grande échelle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F04E51-9B89-B636-01AD-F1F2B41E5450}"/>
              </a:ext>
            </a:extLst>
          </p:cNvPr>
          <p:cNvSpPr txBox="1"/>
          <p:nvPr/>
        </p:nvSpPr>
        <p:spPr>
          <a:xfrm>
            <a:off x="0" y="156966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Premières requêtes et résultats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Comptage du nombre total de documents dans la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Identification des logements disposant de disponibilités</a:t>
            </a:r>
          </a:p>
        </p:txBody>
      </p:sp>
      <p:pic>
        <p:nvPicPr>
          <p:cNvPr id="15" name="Image 1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D942203-8198-FC74-3311-598F32BF7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84" y="2716129"/>
            <a:ext cx="4053916" cy="845218"/>
          </a:xfrm>
          <a:prstGeom prst="rect">
            <a:avLst/>
          </a:prstGeom>
        </p:spPr>
      </p:pic>
      <p:pic>
        <p:nvPicPr>
          <p:cNvPr id="17" name="Image 16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F7813CF-29E6-FB91-8511-E2546D787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252" y="2367213"/>
            <a:ext cx="33782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64ACE4E-F502-48E1-5471-6B943145E67E}"/>
              </a:ext>
            </a:extLst>
          </p:cNvPr>
          <p:cNvSpPr txBox="1"/>
          <p:nvPr/>
        </p:nvSpPr>
        <p:spPr>
          <a:xfrm>
            <a:off x="3007895" y="0"/>
            <a:ext cx="2566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Requêtes et résultats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253FC1B-CC32-1247-A6FC-124D7EB5D157}"/>
              </a:ext>
            </a:extLst>
          </p:cNvPr>
          <p:cNvSpPr txBox="1"/>
          <p:nvPr/>
        </p:nvSpPr>
        <p:spPr>
          <a:xfrm>
            <a:off x="0" y="576028"/>
            <a:ext cx="4965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Répartition des annonces par type de logement :</a:t>
            </a:r>
          </a:p>
        </p:txBody>
      </p:sp>
      <p:pic>
        <p:nvPicPr>
          <p:cNvPr id="15" name="Image 1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8AE3090-65E4-AD58-65FD-4F0858514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558" y="96252"/>
            <a:ext cx="3210824" cy="4834689"/>
          </a:xfrm>
          <a:prstGeom prst="rect">
            <a:avLst/>
          </a:prstGeom>
        </p:spPr>
      </p:pic>
      <p:pic>
        <p:nvPicPr>
          <p:cNvPr id="17" name="Image 16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24EBABD6-25FF-75EC-585D-C2549D206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37" y="1569453"/>
            <a:ext cx="3886200" cy="2197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3D491FB3-9922-7BA4-8440-4F6D68AA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E7D5837-0819-982C-103D-4CBF7F56EC9F}"/>
              </a:ext>
            </a:extLst>
          </p:cNvPr>
          <p:cNvSpPr txBox="1"/>
          <p:nvPr/>
        </p:nvSpPr>
        <p:spPr>
          <a:xfrm>
            <a:off x="3200400" y="0"/>
            <a:ext cx="2526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Requêtes et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2ED373-CA68-08BF-62C6-A4B080EA57AB}"/>
              </a:ext>
            </a:extLst>
          </p:cNvPr>
          <p:cNvSpPr txBox="1"/>
          <p:nvPr/>
        </p:nvSpPr>
        <p:spPr>
          <a:xfrm>
            <a:off x="0" y="447691"/>
            <a:ext cx="3601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Top 5 des annonces avec le plus d’évaluations</a:t>
            </a:r>
          </a:p>
        </p:txBody>
      </p:sp>
      <p:pic>
        <p:nvPicPr>
          <p:cNvPr id="9" name="Image 8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F32D63B-B9B5-A590-9BB8-223E4275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452" y="447691"/>
            <a:ext cx="4681391" cy="4614111"/>
          </a:xfrm>
          <a:prstGeom prst="rect">
            <a:avLst/>
          </a:prstGeom>
        </p:spPr>
      </p:pic>
      <p:pic>
        <p:nvPicPr>
          <p:cNvPr id="11" name="Image 10" descr="Une image contenant texte, Polic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A41C326-C8A3-5874-94A8-4B71E10BC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53" y="1668896"/>
            <a:ext cx="38100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37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C6AB8AD8-2232-4F73-9DB0-55941B4D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0AA6A72-858B-626C-D574-51CC8AFF8BC8}"/>
              </a:ext>
            </a:extLst>
          </p:cNvPr>
          <p:cNvSpPr txBox="1"/>
          <p:nvPr/>
        </p:nvSpPr>
        <p:spPr>
          <a:xfrm>
            <a:off x="3152274" y="0"/>
            <a:ext cx="2727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Requêtes et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21A727-5B66-2209-ADFE-69A30A34C907}"/>
              </a:ext>
            </a:extLst>
          </p:cNvPr>
          <p:cNvSpPr txBox="1"/>
          <p:nvPr/>
        </p:nvSpPr>
        <p:spPr>
          <a:xfrm>
            <a:off x="76868" y="818875"/>
            <a:ext cx="28267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Nombre total d’hôtes distincts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4E11DA-1848-E517-D5B6-08BA054ED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8" y="1498600"/>
            <a:ext cx="3620837" cy="75856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36198DD-23A6-89F1-630A-107ACA487196}"/>
              </a:ext>
            </a:extLst>
          </p:cNvPr>
          <p:cNvSpPr txBox="1"/>
          <p:nvPr/>
        </p:nvSpPr>
        <p:spPr>
          <a:xfrm>
            <a:off x="4676274" y="603431"/>
            <a:ext cx="44677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Quel est le nombre de locations réservables instantanément ?</a:t>
            </a:r>
            <a:br>
              <a:rPr lang="fr-FR" b="1" dirty="0"/>
            </a:br>
            <a:r>
              <a:rPr lang="fr-FR" b="1" dirty="0"/>
              <a:t>Cela représente quelle proportion des annonces ?</a:t>
            </a:r>
          </a:p>
        </p:txBody>
      </p:sp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4A659F0-D9B4-429B-F1F1-C7D9C5372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420" y="1498600"/>
            <a:ext cx="5013712" cy="250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14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C6AE0DAD-6965-51D5-07E3-E48A140E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A5E6023-BE52-5FC0-11B9-73E2050D3E46}"/>
              </a:ext>
            </a:extLst>
          </p:cNvPr>
          <p:cNvSpPr txBox="1"/>
          <p:nvPr/>
        </p:nvSpPr>
        <p:spPr>
          <a:xfrm>
            <a:off x="3318709" y="-65839"/>
            <a:ext cx="263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Requêtes et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EF890F-DC84-7385-B895-6C4B8A13BCCE}"/>
              </a:ext>
            </a:extLst>
          </p:cNvPr>
          <p:cNvSpPr txBox="1"/>
          <p:nvPr/>
        </p:nvSpPr>
        <p:spPr>
          <a:xfrm>
            <a:off x="64168" y="53592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Hôtes possédant plus de 100 annonces</a:t>
            </a:r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AF6C7D2-D8AB-90DD-1B55-97789F46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57" y="962526"/>
            <a:ext cx="2971374" cy="4028574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2876136-F34D-FC71-26F5-4A4B08917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804" y="391543"/>
            <a:ext cx="4412167" cy="46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9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F9843D61-656F-0A37-E7B1-252FF855A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BB53E42-7094-2182-5491-BF715C27451B}"/>
              </a:ext>
            </a:extLst>
          </p:cNvPr>
          <p:cNvSpPr txBox="1"/>
          <p:nvPr/>
        </p:nvSpPr>
        <p:spPr>
          <a:xfrm>
            <a:off x="3264568" y="0"/>
            <a:ext cx="2614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Requêtes et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99D1A6-2316-FB43-69EB-0DFFF2883B03}"/>
              </a:ext>
            </a:extLst>
          </p:cNvPr>
          <p:cNvSpPr txBox="1"/>
          <p:nvPr/>
        </p:nvSpPr>
        <p:spPr>
          <a:xfrm>
            <a:off x="0" y="489648"/>
            <a:ext cx="37859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Part des super hôtes parmi les hôtes</a:t>
            </a:r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00A39C3-448C-0FD0-8527-9CA2B7D7F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352550"/>
            <a:ext cx="7340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04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80117409-9369-11A6-35C2-0D6157BC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ADC0DDB-8C6B-2168-DD81-CDB92962A25E}"/>
              </a:ext>
            </a:extLst>
          </p:cNvPr>
          <p:cNvSpPr txBox="1"/>
          <p:nvPr/>
        </p:nvSpPr>
        <p:spPr>
          <a:xfrm>
            <a:off x="78259" y="1207293"/>
            <a:ext cx="906574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Mise à disposition de la base MongoDB pour un outil de BI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Tentative de connexion directe à MongoDB via un driver BI depuis l’ordinateur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Tentative de connexion via MongoDB Atlas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Incompatibilités techniques avec la configuration locale empêchant la connexion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Sélection et extraction des données les plus pertinentes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Mise à disposition des données sous forme de fichier exploitable dans Tableau</a:t>
            </a:r>
          </a:p>
        </p:txBody>
      </p:sp>
    </p:spTree>
    <p:extLst>
      <p:ext uri="{BB962C8B-B14F-4D97-AF65-F5344CB8AC3E}">
        <p14:creationId xmlns:p14="http://schemas.microsoft.com/office/powerpoint/2010/main" val="2058259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2062E367-AF45-D358-74E0-E4D4567C3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1288A4E-EABF-1F4F-5677-2BBA58423CBD}"/>
              </a:ext>
            </a:extLst>
          </p:cNvPr>
          <p:cNvSpPr txBox="1"/>
          <p:nvPr/>
        </p:nvSpPr>
        <p:spPr>
          <a:xfrm>
            <a:off x="2804984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/>
              <a:t>Requêtes avancées et résultats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1C6DCC-35D0-8558-3823-E01F0C862127}"/>
              </a:ext>
            </a:extLst>
          </p:cNvPr>
          <p:cNvSpPr txBox="1"/>
          <p:nvPr/>
        </p:nvSpPr>
        <p:spPr>
          <a:xfrm>
            <a:off x="61784" y="518464"/>
            <a:ext cx="839023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b="1" dirty="0"/>
              <a:t>Approche utilisée</a:t>
            </a:r>
            <a:endParaRPr lang="fr-F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Utilisation de la bibliothèque </a:t>
            </a:r>
            <a:r>
              <a:rPr lang="fr-FR" b="1" dirty="0"/>
              <a:t>Polars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Analyses réalisées via un </a:t>
            </a:r>
            <a:r>
              <a:rPr lang="fr-FR" b="1" dirty="0"/>
              <a:t>script Python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Exécution de requêtes avancées sur les données extraites depuis MongoDB</a:t>
            </a:r>
          </a:p>
        </p:txBody>
      </p:sp>
      <p:pic>
        <p:nvPicPr>
          <p:cNvPr id="7" name="Image 6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4F403EAB-FA05-26CE-2443-A1B502AC1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05" y="1683259"/>
            <a:ext cx="4125269" cy="2610447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144C843-C280-F036-8128-7A1F0FDE6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96297"/>
            <a:ext cx="4373612" cy="176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6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76C8CEB8-9AA6-8381-786F-AFDFD269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DC5E610-660B-CC51-949C-14E96430E2A4}"/>
              </a:ext>
            </a:extLst>
          </p:cNvPr>
          <p:cNvSpPr txBox="1"/>
          <p:nvPr/>
        </p:nvSpPr>
        <p:spPr>
          <a:xfrm>
            <a:off x="2804984" y="0"/>
            <a:ext cx="34349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u="sng" dirty="0"/>
              <a:t>Requêtes avancées et résultats</a:t>
            </a: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BEF7DA6-5C19-559A-03E5-EA5245A72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19" y="741404"/>
            <a:ext cx="4392705" cy="1893329"/>
          </a:xfrm>
          <a:prstGeom prst="rect">
            <a:avLst/>
          </a:prstGeom>
        </p:spPr>
      </p:pic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059BAC4-F64C-FB02-8A2F-4CB2A995C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18" y="3037583"/>
            <a:ext cx="4392705" cy="1599455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9BD7940-8CD4-FF70-8DB7-F76BFFDB4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966570"/>
            <a:ext cx="4499626" cy="33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03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67A5A0E3-007A-EF9C-9A44-FA0749CD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86B01A8-B542-2F6B-3B8C-61D24A8BBC51}"/>
              </a:ext>
            </a:extLst>
          </p:cNvPr>
          <p:cNvSpPr txBox="1"/>
          <p:nvPr/>
        </p:nvSpPr>
        <p:spPr>
          <a:xfrm>
            <a:off x="2135659" y="0"/>
            <a:ext cx="4872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Schéma / aperçu de la base de données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0164504-8D8E-141D-F51D-3AA5D6FC3769}"/>
              </a:ext>
            </a:extLst>
          </p:cNvPr>
          <p:cNvSpPr txBox="1"/>
          <p:nvPr/>
        </p:nvSpPr>
        <p:spPr>
          <a:xfrm>
            <a:off x="86497" y="810278"/>
            <a:ext cx="8991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Base de données </a:t>
            </a:r>
            <a:r>
              <a:rPr lang="fr-FR" b="1" dirty="0"/>
              <a:t>MongoDB</a:t>
            </a:r>
            <a:r>
              <a:rPr lang="fr-FR" dirty="0"/>
              <a:t> orientée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collection principale : </a:t>
            </a:r>
            <a:r>
              <a:rPr lang="fr-FR" b="1" dirty="0">
                <a:latin typeface="Courier New" panose="02070309020205020404" pitchFamily="49" charset="0"/>
              </a:rPr>
              <a:t>listings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 document représente </a:t>
            </a:r>
            <a:r>
              <a:rPr lang="fr-FR" b="1" dirty="0"/>
              <a:t>une annonce de réservation complète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Données regroupées dans un même document (logement, hôte, disponibilités, avis)</a:t>
            </a:r>
          </a:p>
        </p:txBody>
      </p:sp>
      <p:pic>
        <p:nvPicPr>
          <p:cNvPr id="7" name="Image 6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F653B4E-D43F-18D4-0F2A-1CE6D7BC9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96" y="1995344"/>
            <a:ext cx="7772400" cy="27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57C8C444-522A-D2F0-6E60-8F9DC73F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5E40698-265B-0D2C-8D3C-B4D65DFF2D81}"/>
              </a:ext>
            </a:extLst>
          </p:cNvPr>
          <p:cNvSpPr txBox="1"/>
          <p:nvPr/>
        </p:nvSpPr>
        <p:spPr>
          <a:xfrm>
            <a:off x="2286000" y="164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Réplication des données – Replica Set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7E0E16-0B39-91DB-59E9-70E6737B64A4}"/>
              </a:ext>
            </a:extLst>
          </p:cNvPr>
          <p:cNvSpPr txBox="1"/>
          <p:nvPr/>
        </p:nvSpPr>
        <p:spPr>
          <a:xfrm>
            <a:off x="0" y="653129"/>
            <a:ext cx="89215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600" b="1" dirty="0"/>
              <a:t>À quoi sert un Replica Set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Assurer la haute disponibilité de la base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Éviter la perte de données en cas de panne d’un serveur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Garantir la continuité de service grâce au failover automatique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Sécuriser les données via la réplication sur plusieurs instances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0448DF-BCEA-3F58-4651-6CC3FB2A7EB7}"/>
              </a:ext>
            </a:extLst>
          </p:cNvPr>
          <p:cNvSpPr txBox="1"/>
          <p:nvPr/>
        </p:nvSpPr>
        <p:spPr>
          <a:xfrm>
            <a:off x="-1" y="2571750"/>
            <a:ext cx="8789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Fonctionnement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d’un Replica Set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Composition : 1 Primary, 1 ou plusieurs Secondary, et un Arbiter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écritures sont effectuées sur le Primary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données sont répliquées automatiquement vers les Secondary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En cas de panne du Primary, un failover automatique élit un nouveau Primary</a:t>
            </a:r>
          </a:p>
        </p:txBody>
      </p:sp>
    </p:spTree>
    <p:extLst>
      <p:ext uri="{BB962C8B-B14F-4D97-AF65-F5344CB8AC3E}">
        <p14:creationId xmlns:p14="http://schemas.microsoft.com/office/powerpoint/2010/main" val="4074025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A2248AE7-8E61-126D-1EE1-EA77F113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797A780-55D9-5901-E695-514962E42590}"/>
              </a:ext>
            </a:extLst>
          </p:cNvPr>
          <p:cNvSpPr txBox="1"/>
          <p:nvPr/>
        </p:nvSpPr>
        <p:spPr>
          <a:xfrm>
            <a:off x="2286000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Distribution des données – Sharding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BF31623-2AA9-1BB1-2AF2-0FA831DF7695}"/>
              </a:ext>
            </a:extLst>
          </p:cNvPr>
          <p:cNvSpPr txBox="1"/>
          <p:nvPr/>
        </p:nvSpPr>
        <p:spPr>
          <a:xfrm>
            <a:off x="0" y="802670"/>
            <a:ext cx="790008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À quoi sert le sharding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Améliorer les performances en répartissant la charge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Gérer de très grands volumes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Permettre la scalabilité horizontale de la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Éviter la saturation d’un serveur unique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538CA2-4BE0-19B1-8517-D05DCD72B842}"/>
              </a:ext>
            </a:extLst>
          </p:cNvPr>
          <p:cNvSpPr txBox="1"/>
          <p:nvPr/>
        </p:nvSpPr>
        <p:spPr>
          <a:xfrm>
            <a:off x="-1" y="2590225"/>
            <a:ext cx="869915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Fonctionnement</a:t>
            </a:r>
            <a:endParaRPr lang="fr-F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Mise en place du sharding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Répartition des données sur plusieurs serveurs (</a:t>
            </a:r>
            <a:r>
              <a:rPr lang="fr-FR" sz="1600" dirty="0" err="1"/>
              <a:t>shards</a:t>
            </a:r>
            <a:r>
              <a:rPr lang="fr-F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Utilisation d’une clé de sharding pour distribuer les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Les requêtes passent par un routeur (mongos)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Les métadonnées sont gérées par les config servers</a:t>
            </a:r>
          </a:p>
        </p:txBody>
      </p:sp>
    </p:spTree>
    <p:extLst>
      <p:ext uri="{BB962C8B-B14F-4D97-AF65-F5344CB8AC3E}">
        <p14:creationId xmlns:p14="http://schemas.microsoft.com/office/powerpoint/2010/main" val="369222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F85B59E9-D053-F180-B5C6-4C8E33F3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95FB5A6-5357-B949-CDAC-5D1357A0936D}"/>
              </a:ext>
            </a:extLst>
          </p:cNvPr>
          <p:cNvSpPr txBox="1"/>
          <p:nvPr/>
        </p:nvSpPr>
        <p:spPr>
          <a:xfrm>
            <a:off x="2854410" y="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Conclusion et perspectives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E7715E-1707-EF74-377D-86AEB2C83B4A}"/>
              </a:ext>
            </a:extLst>
          </p:cNvPr>
          <p:cNvSpPr txBox="1"/>
          <p:nvPr/>
        </p:nvSpPr>
        <p:spPr>
          <a:xfrm>
            <a:off x="0" y="887673"/>
            <a:ext cx="847261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Conclusion</a:t>
            </a:r>
            <a:endParaRPr lang="fr-F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Migration réussie des données vers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Organisation des données adaptée à un modèle NoSQL orienté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Analyses réalisées via des requêtes MongoDB et Polars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Mise en place d’une architecture intégrant réplication et distribution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910CF7-FEAF-9BC9-744E-88409EF72888}"/>
              </a:ext>
            </a:extLst>
          </p:cNvPr>
          <p:cNvSpPr txBox="1"/>
          <p:nvPr/>
        </p:nvSpPr>
        <p:spPr>
          <a:xfrm>
            <a:off x="0" y="2901611"/>
            <a:ext cx="847261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/>
              <a:t>Perspectives</a:t>
            </a:r>
            <a:endParaRPr lang="fr-F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Amélioration de l’intégration avec un outil de Business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Optimisation des requêtes et des performances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Enrichissement des analyses et des indicateurs métier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/>
              <a:t>Déploiement sur une infrastructure cloud plus robuste</a:t>
            </a:r>
          </a:p>
        </p:txBody>
      </p:sp>
    </p:spTree>
    <p:extLst>
      <p:ext uri="{BB962C8B-B14F-4D97-AF65-F5344CB8AC3E}">
        <p14:creationId xmlns:p14="http://schemas.microsoft.com/office/powerpoint/2010/main" val="101654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784</Words>
  <Application>Microsoft Macintosh PowerPoint</Application>
  <PresentationFormat>Affichage à l'écran (16:9)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Courier New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ENDAYE</cp:lastModifiedBy>
  <cp:revision>21</cp:revision>
  <dcterms:modified xsi:type="dcterms:W3CDTF">2026-02-07T17:13:44Z</dcterms:modified>
</cp:coreProperties>
</file>