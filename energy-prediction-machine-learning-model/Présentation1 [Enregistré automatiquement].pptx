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4" r:id="rId4"/>
    <p:sldId id="263" r:id="rId5"/>
    <p:sldId id="272" r:id="rId6"/>
    <p:sldId id="273" r:id="rId7"/>
    <p:sldId id="262" r:id="rId8"/>
    <p:sldId id="261" r:id="rId9"/>
    <p:sldId id="274" r:id="rId10"/>
    <p:sldId id="260" r:id="rId11"/>
    <p:sldId id="276" r:id="rId12"/>
    <p:sldId id="275" r:id="rId13"/>
    <p:sldId id="271" r:id="rId14"/>
    <p:sldId id="257" r:id="rId15"/>
    <p:sldId id="277" r:id="rId16"/>
    <p:sldId id="278" r:id="rId17"/>
    <p:sldId id="270" r:id="rId18"/>
    <p:sldId id="269" r:id="rId19"/>
    <p:sldId id="268" r:id="rId20"/>
    <p:sldId id="266" r:id="rId21"/>
    <p:sldId id="267" r:id="rId22"/>
    <p:sldId id="283" r:id="rId23"/>
    <p:sldId id="265" r:id="rId24"/>
    <p:sldId id="279" r:id="rId25"/>
    <p:sldId id="280" r:id="rId26"/>
    <p:sldId id="282"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58"/>
    <p:restoredTop sz="94677"/>
  </p:normalViewPr>
  <p:slideViewPr>
    <p:cSldViewPr snapToGrid="0">
      <p:cViewPr varScale="1">
        <p:scale>
          <a:sx n="99" d="100"/>
          <a:sy n="99" d="100"/>
        </p:scale>
        <p:origin x="18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E66086-406F-716E-947A-E12E3B25BBC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D4B6D14-AF5D-EBAD-8E7C-FFBF0A8130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1DA240C-87FB-44D7-A069-FC2F113222BA}"/>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0B89081F-5938-449A-3FD6-D6BA3976BF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BB605E-AF34-F276-33B2-4C865E66E4E5}"/>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595040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0AE9F4-5D75-3851-6162-0082EAB99A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8337C00-8024-FCF7-5CC5-686C8764C27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842D413-B7B2-596E-634F-174CB62A08C9}"/>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BC3E5F9E-CDF5-FA7B-8BE0-80D7D0E01F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A252A3-EFC1-4ACE-DC83-F0DDEF35ADD1}"/>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2490538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9863BE-8B0E-58B0-C585-9931AD47C4E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A8DF92D-769D-3A76-38A2-C3CB0CC7ED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ABB6DE0-3CA6-345E-D7DF-A4FC10757A49}"/>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649E9475-5684-01C1-8F3B-4470967300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2E8AEF-655F-914E-7F50-74EEA594BB65}"/>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2907424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F018D9-D114-2E12-A8E8-3C31F094556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241923-1A5D-001A-738F-D5B3CB5E1FE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D97323E-CC9C-A734-73AD-B4364BDFCB0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1584DF7-C5D1-9B5F-A3A3-A015EC014449}"/>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6" name="Espace réservé du pied de page 5">
            <a:extLst>
              <a:ext uri="{FF2B5EF4-FFF2-40B4-BE49-F238E27FC236}">
                <a16:creationId xmlns:a16="http://schemas.microsoft.com/office/drawing/2014/main" id="{C418AE6F-521C-02AD-7734-48651DC2FEE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1DBDCF-40B5-DE45-07AC-C7ABE6412B62}"/>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121983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B8DAFF-6BF1-5CA5-B071-5EAA790F1A0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DAD99D4-9196-72B4-47C1-418BA84D8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7291B0A-6E1F-2DE2-A6E0-4F421C4E7E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F37B157-F197-DAE8-6913-31AE48B77B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8848A36-EAEE-78D5-2410-FA83C8AB555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3F0F98D-1AE3-F254-D9FC-A1E303BB291C}"/>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8" name="Espace réservé du pied de page 7">
            <a:extLst>
              <a:ext uri="{FF2B5EF4-FFF2-40B4-BE49-F238E27FC236}">
                <a16:creationId xmlns:a16="http://schemas.microsoft.com/office/drawing/2014/main" id="{F411D9F2-9608-8A3C-B74F-30ACBDC21CE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C5C9E5F-E3AA-BEE3-BF72-CAB695B281CD}"/>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3812947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D7031-C2F9-3834-5431-A696C2BE116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09B0F6F-9F36-F963-86D5-C52B82AD86E5}"/>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4" name="Espace réservé du pied de page 3">
            <a:extLst>
              <a:ext uri="{FF2B5EF4-FFF2-40B4-BE49-F238E27FC236}">
                <a16:creationId xmlns:a16="http://schemas.microsoft.com/office/drawing/2014/main" id="{48D8204B-CA53-4DDC-DF22-19FE5C4105F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86929FA-7320-D09C-06CD-41DD519BFAAD}"/>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328899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F4A49A3-DFF6-A622-C345-30C72E9970B0}"/>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3" name="Espace réservé du pied de page 2">
            <a:extLst>
              <a:ext uri="{FF2B5EF4-FFF2-40B4-BE49-F238E27FC236}">
                <a16:creationId xmlns:a16="http://schemas.microsoft.com/office/drawing/2014/main" id="{9AB72242-5340-ED66-02D2-0BDFC625F2C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97E07D4-2D04-F405-8BC5-533B14FCA2E0}"/>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3888655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028435-9699-422B-68AF-19DFF5A7606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78F2463-A614-E418-4CC2-E4F1B83198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CD4D7FE-CFEA-E8E5-5A9A-8B724B676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9D57E6-2627-CAE0-0E2E-2BAD8869536D}"/>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6" name="Espace réservé du pied de page 5">
            <a:extLst>
              <a:ext uri="{FF2B5EF4-FFF2-40B4-BE49-F238E27FC236}">
                <a16:creationId xmlns:a16="http://schemas.microsoft.com/office/drawing/2014/main" id="{586A5990-AE2F-DD29-B9AD-5EBED8F4F40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155677-99C4-A803-E57B-C9B38515835A}"/>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205828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47511A-C961-2B9C-A2A3-336044411D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6D92DB4-8E08-E7CC-814D-12397FEBE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78B046C-FF3D-662E-AFDC-BEBE5A8FC9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9CBC97F-125A-AE19-9AA6-0899D333DC74}"/>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6" name="Espace réservé du pied de page 5">
            <a:extLst>
              <a:ext uri="{FF2B5EF4-FFF2-40B4-BE49-F238E27FC236}">
                <a16:creationId xmlns:a16="http://schemas.microsoft.com/office/drawing/2014/main" id="{715D466F-7BC3-99E0-57BE-E91900354BD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C1018C5-9DD7-316A-F9D5-415A1E141657}"/>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239919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772C4A-ED03-50CB-7377-FCDCFA78EE8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443FEB9-776E-336B-4B4F-8CE8896579D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469BC39-19A4-8491-5C19-A02382B46535}"/>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A5F64A36-3AAD-7016-2341-7E61DE666D0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231ADD-DC79-1A8D-67D0-91721E49FA77}"/>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52173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A66FD7B-BB4F-C505-5004-8FBB727B031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FBBA7A9-7C0E-9718-249B-E53485932B8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B24EC4-BC08-1F17-2C2C-6B8AB1A99CB2}"/>
              </a:ext>
            </a:extLst>
          </p:cNvPr>
          <p:cNvSpPr>
            <a:spLocks noGrp="1"/>
          </p:cNvSpPr>
          <p:nvPr>
            <p:ph type="dt" sz="half" idx="10"/>
          </p:nvPr>
        </p:nvSpPr>
        <p:spPr/>
        <p:txBody>
          <a:body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1357ACB0-EE82-D462-4C7B-DEF4E46846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8FD830-0438-8533-14D3-B3ED2D919F2D}"/>
              </a:ext>
            </a:extLst>
          </p:cNvPr>
          <p:cNvSpPr>
            <a:spLocks noGrp="1"/>
          </p:cNvSpPr>
          <p:nvPr>
            <p:ph type="sldNum" sz="quarter" idx="12"/>
          </p:nvPr>
        </p:nvSpPr>
        <p:spPr/>
        <p:txBody>
          <a:bodyPr/>
          <a:lstStyle/>
          <a:p>
            <a:fld id="{28C314FF-D106-E744-A3A9-F3101A9AC8BB}" type="slidenum">
              <a:rPr lang="fr-FR" smtClean="0"/>
              <a:t>‹N°›</a:t>
            </a:fld>
            <a:endParaRPr lang="fr-FR"/>
          </a:p>
        </p:txBody>
      </p:sp>
    </p:spTree>
    <p:extLst>
      <p:ext uri="{BB962C8B-B14F-4D97-AF65-F5344CB8AC3E}">
        <p14:creationId xmlns:p14="http://schemas.microsoft.com/office/powerpoint/2010/main" val="273585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66C63F8-B753-3643-5C1B-A8E6740DB3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BC8460E-6BCB-DFDA-F00B-7725840F89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714934-1EA2-1D39-52A3-7D93FFCC7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17E2C9-944C-C547-A65A-B293887E46E0}" type="datetimeFigureOut">
              <a:rPr lang="fr-FR" smtClean="0"/>
              <a:t>20/01/2026</a:t>
            </a:fld>
            <a:endParaRPr lang="fr-FR"/>
          </a:p>
        </p:txBody>
      </p:sp>
      <p:sp>
        <p:nvSpPr>
          <p:cNvPr id="5" name="Espace réservé du pied de page 4">
            <a:extLst>
              <a:ext uri="{FF2B5EF4-FFF2-40B4-BE49-F238E27FC236}">
                <a16:creationId xmlns:a16="http://schemas.microsoft.com/office/drawing/2014/main" id="{E7531D30-1499-74E9-ACFD-780BBCB8A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6F1B3D8-03CB-F94E-1D1B-AD3C46C426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C314FF-D106-E744-A3A9-F3101A9AC8BB}" type="slidenum">
              <a:rPr lang="fr-FR" smtClean="0"/>
              <a:t>‹N°›</a:t>
            </a:fld>
            <a:endParaRPr lang="fr-FR"/>
          </a:p>
        </p:txBody>
      </p:sp>
    </p:spTree>
    <p:extLst>
      <p:ext uri="{BB962C8B-B14F-4D97-AF65-F5344CB8AC3E}">
        <p14:creationId xmlns:p14="http://schemas.microsoft.com/office/powerpoint/2010/main" val="3823767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3BF215C-ADE1-5EF9-33EF-4FD5A7680068}"/>
              </a:ext>
            </a:extLst>
          </p:cNvPr>
          <p:cNvSpPr>
            <a:spLocks noGrp="1"/>
          </p:cNvSpPr>
          <p:nvPr>
            <p:ph type="title"/>
          </p:nvPr>
        </p:nvSpPr>
        <p:spPr>
          <a:xfrm>
            <a:off x="0" y="2132302"/>
            <a:ext cx="7301345" cy="2030989"/>
          </a:xfrm>
        </p:spPr>
        <p:txBody>
          <a:bodyPr>
            <a:noAutofit/>
          </a:bodyPr>
          <a:lstStyle/>
          <a:p>
            <a:r>
              <a:rPr lang="fr-FR" sz="4800" b="1" u="sng" dirty="0"/>
              <a:t>Prédiction de la consommation énergétique des bâtiments :</a:t>
            </a:r>
          </a:p>
        </p:txBody>
      </p:sp>
      <p:sp>
        <p:nvSpPr>
          <p:cNvPr id="5" name="Espace réservé du texte 4">
            <a:extLst>
              <a:ext uri="{FF2B5EF4-FFF2-40B4-BE49-F238E27FC236}">
                <a16:creationId xmlns:a16="http://schemas.microsoft.com/office/drawing/2014/main" id="{4CDF58CD-311C-4B2C-E7E3-321435553D05}"/>
              </a:ext>
            </a:extLst>
          </p:cNvPr>
          <p:cNvSpPr>
            <a:spLocks noGrp="1"/>
          </p:cNvSpPr>
          <p:nvPr>
            <p:ph type="body" idx="1"/>
          </p:nvPr>
        </p:nvSpPr>
        <p:spPr>
          <a:xfrm>
            <a:off x="97558" y="4299888"/>
            <a:ext cx="6649605" cy="798585"/>
          </a:xfrm>
        </p:spPr>
        <p:txBody>
          <a:bodyPr/>
          <a:lstStyle/>
          <a:p>
            <a:r>
              <a:rPr lang="fr-FR" dirty="0">
                <a:solidFill>
                  <a:schemeClr val="tx1"/>
                </a:solidFill>
              </a:rPr>
              <a:t>Projet de Machine Learning</a:t>
            </a:r>
            <a:br>
              <a:rPr lang="fr-FR" dirty="0">
                <a:solidFill>
                  <a:schemeClr val="tx1"/>
                </a:solidFill>
              </a:rPr>
            </a:br>
            <a:r>
              <a:rPr lang="fr-FR" dirty="0">
                <a:solidFill>
                  <a:schemeClr val="tx1"/>
                </a:solidFill>
              </a:rPr>
              <a:t>Déploiement d’un modèle prédictif dans le Cloud</a:t>
            </a:r>
          </a:p>
        </p:txBody>
      </p:sp>
    </p:spTree>
    <p:extLst>
      <p:ext uri="{BB962C8B-B14F-4D97-AF65-F5344CB8AC3E}">
        <p14:creationId xmlns:p14="http://schemas.microsoft.com/office/powerpoint/2010/main" val="17583148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2179AAB9-ADA2-8D43-45C7-5AA60B4B9147}"/>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F3BAC0B-15BD-1473-D593-DC7F3FB93FAC}"/>
              </a:ext>
            </a:extLst>
          </p:cNvPr>
          <p:cNvSpPr>
            <a:spLocks noGrp="1" noChangeArrowheads="1"/>
          </p:cNvSpPr>
          <p:nvPr>
            <p:ph type="ctrTitle"/>
          </p:nvPr>
        </p:nvSpPr>
        <p:spPr bwMode="auto">
          <a:xfrm>
            <a:off x="0" y="0"/>
            <a:ext cx="12191999" cy="6862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Introduction</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Contexte du projet, problématique et objectifs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Analyse exploratoire des données</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Origine et compréhension des données, Qualité des données et nettoyage </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Analyse des variables et premiers insights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Préparation des données &amp; </a:t>
            </a:r>
            <a:r>
              <a:rPr kumimoji="0" lang="fr-FR" altLang="fr-FR" sz="1800" b="1" i="0" u="none" strike="noStrike" cap="none" normalizeH="0" baseline="0" dirty="0" err="1">
                <a:ln>
                  <a:noFill/>
                </a:ln>
                <a:solidFill>
                  <a:schemeClr val="tx1"/>
                </a:solidFill>
                <a:effectLst/>
                <a:latin typeface="Arial" panose="020B0604020202020204" pitchFamily="34" charset="0"/>
              </a:rPr>
              <a:t>feature</a:t>
            </a:r>
            <a:r>
              <a:rPr kumimoji="0" lang="fr-FR" altLang="fr-FR" sz="1800" b="1" i="0" u="none" strike="noStrike" cap="none" normalizeH="0" baseline="0" dirty="0">
                <a:ln>
                  <a:noFill/>
                </a:ln>
                <a:solidFill>
                  <a:schemeClr val="tx1"/>
                </a:solidFill>
                <a:effectLst/>
                <a:latin typeface="Arial" panose="020B0604020202020204" pitchFamily="34" charset="0"/>
              </a:rPr>
              <a:t> engineering</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Traitement des valeurs manquantes, Gestion des valeurs aberrantes</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Sélection et transformation des variables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Démarche de modélisation</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Approche méthodologique, Comparaison de différents modèles supervisés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Résultats et interprétation métier</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Optimisation, Performances du modèle retenu, Influence des variables explicatives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Mise en service du modèle (API)</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Architecture du service, Schéma des données et validation des entrées</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Déploiement du modèle dans le Cloud (Azure)</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Déploiement et tests du service, Accès à l’API et démonstration en direct</a:t>
            </a: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chemeClr val="tx1"/>
                </a:solidFill>
                <a:effectLst/>
                <a:latin typeface="Arial" panose="020B0604020202020204" pitchFamily="34" charset="0"/>
              </a:rPr>
              <a:t>Conclusion &amp; perspectives</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80122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90EC5544-4E67-2A38-C5B6-FFCDBA713DF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0DE47443-8AC6-9D63-A671-9649589CBDA8}"/>
              </a:ext>
            </a:extLst>
          </p:cNvPr>
          <p:cNvSpPr txBox="1"/>
          <p:nvPr/>
        </p:nvSpPr>
        <p:spPr>
          <a:xfrm>
            <a:off x="110836" y="1000081"/>
            <a:ext cx="11152909" cy="1569660"/>
          </a:xfrm>
          <a:prstGeom prst="rect">
            <a:avLst/>
          </a:prstGeom>
          <a:noFill/>
        </p:spPr>
        <p:txBody>
          <a:bodyPr wrap="square">
            <a:spAutoFit/>
          </a:bodyPr>
          <a:lstStyle/>
          <a:p>
            <a:pPr>
              <a:buNone/>
            </a:pPr>
            <a:r>
              <a:rPr lang="fr-FR" sz="2400" b="1" dirty="0"/>
              <a:t>Contexte :</a:t>
            </a:r>
          </a:p>
          <a:p>
            <a:pPr>
              <a:buFont typeface="Arial" panose="020B0604020202020204" pitchFamily="34" charset="0"/>
              <a:buChar char="•"/>
            </a:pPr>
            <a:r>
              <a:rPr lang="fr-FR" sz="2400" dirty="0"/>
              <a:t>La ville de Seattle collecte des données sur la consommation énergétique de ses bâtiments</a:t>
            </a:r>
          </a:p>
          <a:p>
            <a:pPr>
              <a:buFont typeface="Arial" panose="020B0604020202020204" pitchFamily="34" charset="0"/>
              <a:buChar char="•"/>
            </a:pPr>
            <a:r>
              <a:rPr lang="fr-FR" sz="2400" dirty="0"/>
              <a:t>Objectif : mieux comprendre et anticiper les consommations énergétiques</a:t>
            </a:r>
          </a:p>
        </p:txBody>
      </p:sp>
      <p:sp>
        <p:nvSpPr>
          <p:cNvPr id="7" name="ZoneTexte 6">
            <a:extLst>
              <a:ext uri="{FF2B5EF4-FFF2-40B4-BE49-F238E27FC236}">
                <a16:creationId xmlns:a16="http://schemas.microsoft.com/office/drawing/2014/main" id="{A81DEBA1-1364-D9D9-E5C4-493A62DB2CDC}"/>
              </a:ext>
            </a:extLst>
          </p:cNvPr>
          <p:cNvSpPr txBox="1"/>
          <p:nvPr/>
        </p:nvSpPr>
        <p:spPr>
          <a:xfrm>
            <a:off x="110836" y="2935531"/>
            <a:ext cx="11291455" cy="1200329"/>
          </a:xfrm>
          <a:prstGeom prst="rect">
            <a:avLst/>
          </a:prstGeom>
          <a:noFill/>
        </p:spPr>
        <p:txBody>
          <a:bodyPr wrap="square">
            <a:spAutoFit/>
          </a:bodyPr>
          <a:lstStyle/>
          <a:p>
            <a:pPr>
              <a:buNone/>
            </a:pPr>
            <a:r>
              <a:rPr lang="fr-FR" sz="2400" b="1" dirty="0"/>
              <a:t>Problématique</a:t>
            </a:r>
          </a:p>
          <a:p>
            <a:pPr>
              <a:buNone/>
            </a:pPr>
            <a:r>
              <a:rPr lang="fr-FR" sz="2400" i="1" dirty="0"/>
              <a:t>Peut-on prédire la consommation énergétique annuelle d’un bâtiment à partir de ses caractéristiques ?</a:t>
            </a:r>
            <a:endParaRPr lang="fr-FR" sz="2400" dirty="0"/>
          </a:p>
        </p:txBody>
      </p:sp>
      <p:sp>
        <p:nvSpPr>
          <p:cNvPr id="9" name="ZoneTexte 8">
            <a:extLst>
              <a:ext uri="{FF2B5EF4-FFF2-40B4-BE49-F238E27FC236}">
                <a16:creationId xmlns:a16="http://schemas.microsoft.com/office/drawing/2014/main" id="{99A417F3-A657-A0D3-D72D-72BF88CBA73C}"/>
              </a:ext>
            </a:extLst>
          </p:cNvPr>
          <p:cNvSpPr txBox="1"/>
          <p:nvPr/>
        </p:nvSpPr>
        <p:spPr>
          <a:xfrm>
            <a:off x="110836" y="4501650"/>
            <a:ext cx="9428019" cy="1569660"/>
          </a:xfrm>
          <a:prstGeom prst="rect">
            <a:avLst/>
          </a:prstGeom>
          <a:noFill/>
        </p:spPr>
        <p:txBody>
          <a:bodyPr wrap="square">
            <a:spAutoFit/>
          </a:bodyPr>
          <a:lstStyle/>
          <a:p>
            <a:pPr>
              <a:buNone/>
            </a:pPr>
            <a:r>
              <a:rPr lang="fr-FR" sz="2400" b="1" dirty="0"/>
              <a:t>Objectifs</a:t>
            </a:r>
          </a:p>
          <a:p>
            <a:pPr>
              <a:buFont typeface="Arial" panose="020B0604020202020204" pitchFamily="34" charset="0"/>
              <a:buChar char="•"/>
            </a:pPr>
            <a:r>
              <a:rPr lang="fr-FR" sz="2400" dirty="0"/>
              <a:t>Construire un modèle prédictif fiable</a:t>
            </a:r>
          </a:p>
          <a:p>
            <a:pPr>
              <a:buFont typeface="Arial" panose="020B0604020202020204" pitchFamily="34" charset="0"/>
              <a:buChar char="•"/>
            </a:pPr>
            <a:r>
              <a:rPr lang="fr-FR" sz="2400" dirty="0"/>
              <a:t>Identifier les facteurs influençant la consommation</a:t>
            </a:r>
          </a:p>
          <a:p>
            <a:pPr>
              <a:buFont typeface="Arial" panose="020B0604020202020204" pitchFamily="34" charset="0"/>
              <a:buChar char="•"/>
            </a:pPr>
            <a:r>
              <a:rPr lang="fr-FR" sz="2400" dirty="0"/>
              <a:t>Mettre le modèle à disposition via une API déployée dans le Cloud</a:t>
            </a:r>
          </a:p>
        </p:txBody>
      </p:sp>
    </p:spTree>
    <p:extLst>
      <p:ext uri="{BB962C8B-B14F-4D97-AF65-F5344CB8AC3E}">
        <p14:creationId xmlns:p14="http://schemas.microsoft.com/office/powerpoint/2010/main" val="13351087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0EEC4351-8D99-9BD3-EACA-120F80F1B7E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FCA7D49-0D03-D3A5-156E-881501DC0FEF}"/>
              </a:ext>
            </a:extLst>
          </p:cNvPr>
          <p:cNvSpPr txBox="1"/>
          <p:nvPr/>
        </p:nvSpPr>
        <p:spPr>
          <a:xfrm>
            <a:off x="2867891" y="0"/>
            <a:ext cx="6096000" cy="707886"/>
          </a:xfrm>
          <a:prstGeom prst="rect">
            <a:avLst/>
          </a:prstGeom>
          <a:noFill/>
        </p:spPr>
        <p:txBody>
          <a:bodyPr wrap="square">
            <a:spAutoFit/>
          </a:bodyPr>
          <a:lstStyle/>
          <a:p>
            <a:r>
              <a:rPr lang="fr-FR" sz="4000" b="1" u="sng" dirty="0"/>
              <a:t>ANALYSE EXPLORATOIRE</a:t>
            </a:r>
          </a:p>
        </p:txBody>
      </p:sp>
      <p:sp>
        <p:nvSpPr>
          <p:cNvPr id="7" name="ZoneTexte 6">
            <a:extLst>
              <a:ext uri="{FF2B5EF4-FFF2-40B4-BE49-F238E27FC236}">
                <a16:creationId xmlns:a16="http://schemas.microsoft.com/office/drawing/2014/main" id="{A732F0AC-3369-90AA-7066-18A12B3C4BBF}"/>
              </a:ext>
            </a:extLst>
          </p:cNvPr>
          <p:cNvSpPr txBox="1"/>
          <p:nvPr/>
        </p:nvSpPr>
        <p:spPr>
          <a:xfrm>
            <a:off x="110835" y="707886"/>
            <a:ext cx="6525491" cy="400110"/>
          </a:xfrm>
          <a:prstGeom prst="rect">
            <a:avLst/>
          </a:prstGeom>
          <a:noFill/>
        </p:spPr>
        <p:txBody>
          <a:bodyPr wrap="square">
            <a:spAutoFit/>
          </a:bodyPr>
          <a:lstStyle/>
          <a:p>
            <a:r>
              <a:rPr lang="fr-FR" sz="2000" b="1" dirty="0"/>
              <a:t>Compréhension globale des variables numériques :</a:t>
            </a:r>
          </a:p>
        </p:txBody>
      </p:sp>
      <p:sp>
        <p:nvSpPr>
          <p:cNvPr id="10" name="ZoneTexte 9">
            <a:extLst>
              <a:ext uri="{FF2B5EF4-FFF2-40B4-BE49-F238E27FC236}">
                <a16:creationId xmlns:a16="http://schemas.microsoft.com/office/drawing/2014/main" id="{14D1BE16-A4F5-7BF3-8EA2-E14B782D1EAF}"/>
              </a:ext>
            </a:extLst>
          </p:cNvPr>
          <p:cNvSpPr txBox="1"/>
          <p:nvPr/>
        </p:nvSpPr>
        <p:spPr>
          <a:xfrm>
            <a:off x="110835" y="1215717"/>
            <a:ext cx="6096000" cy="1323439"/>
          </a:xfrm>
          <a:prstGeom prst="rect">
            <a:avLst/>
          </a:prstGeom>
          <a:noFill/>
        </p:spPr>
        <p:txBody>
          <a:bodyPr wrap="square">
            <a:spAutoFit/>
          </a:bodyPr>
          <a:lstStyle/>
          <a:p>
            <a:pPr>
              <a:buNone/>
            </a:pPr>
            <a:r>
              <a:rPr lang="fr-FR" sz="2000" b="1" dirty="0"/>
              <a:t>Distributions générales</a:t>
            </a:r>
          </a:p>
          <a:p>
            <a:pPr>
              <a:buFont typeface="Arial" panose="020B0604020202020204" pitchFamily="34" charset="0"/>
              <a:buChar char="•"/>
            </a:pPr>
            <a:r>
              <a:rPr lang="fr-FR" sz="2000" dirty="0"/>
              <a:t>Distributions fortement asymétriques à droite</a:t>
            </a:r>
          </a:p>
          <a:p>
            <a:pPr>
              <a:buFont typeface="Arial" panose="020B0604020202020204" pitchFamily="34" charset="0"/>
              <a:buChar char="•"/>
            </a:pPr>
            <a:r>
              <a:rPr lang="fr-FR" sz="2000" dirty="0"/>
              <a:t>Majorité de valeurs faibles</a:t>
            </a:r>
          </a:p>
          <a:p>
            <a:pPr>
              <a:buFont typeface="Arial" panose="020B0604020202020204" pitchFamily="34" charset="0"/>
              <a:buChar char="•"/>
            </a:pPr>
            <a:r>
              <a:rPr lang="fr-FR" sz="2000" dirty="0"/>
              <a:t>Présence de valeurs extrêmes rares mais élevées</a:t>
            </a:r>
          </a:p>
        </p:txBody>
      </p:sp>
      <p:sp>
        <p:nvSpPr>
          <p:cNvPr id="12" name="ZoneTexte 11">
            <a:extLst>
              <a:ext uri="{FF2B5EF4-FFF2-40B4-BE49-F238E27FC236}">
                <a16:creationId xmlns:a16="http://schemas.microsoft.com/office/drawing/2014/main" id="{407A7A4B-AA47-8BC3-177A-CD4DDB8E66D3}"/>
              </a:ext>
            </a:extLst>
          </p:cNvPr>
          <p:cNvSpPr txBox="1"/>
          <p:nvPr/>
        </p:nvSpPr>
        <p:spPr>
          <a:xfrm>
            <a:off x="110835" y="2828835"/>
            <a:ext cx="5985165" cy="1323439"/>
          </a:xfrm>
          <a:prstGeom prst="rect">
            <a:avLst/>
          </a:prstGeom>
          <a:noFill/>
        </p:spPr>
        <p:txBody>
          <a:bodyPr wrap="square">
            <a:spAutoFit/>
          </a:bodyPr>
          <a:lstStyle/>
          <a:p>
            <a:pPr>
              <a:buNone/>
            </a:pPr>
            <a:r>
              <a:rPr lang="fr-FR" sz="2000" b="1" dirty="0"/>
              <a:t>Similarités observées</a:t>
            </a:r>
          </a:p>
          <a:p>
            <a:pPr>
              <a:buFont typeface="Arial" panose="020B0604020202020204" pitchFamily="34" charset="0"/>
              <a:buChar char="•"/>
            </a:pPr>
            <a:r>
              <a:rPr lang="fr-FR" sz="2000" dirty="0"/>
              <a:t>Profils similaires pour les variables énergétiques</a:t>
            </a:r>
            <a:br>
              <a:rPr lang="fr-FR" sz="2000" dirty="0"/>
            </a:br>
            <a:r>
              <a:rPr lang="fr-FR" sz="2000" i="1" dirty="0"/>
              <a:t>(consommation, intensité, émissions)</a:t>
            </a:r>
            <a:endParaRPr lang="fr-FR" sz="2000" dirty="0"/>
          </a:p>
          <a:p>
            <a:pPr>
              <a:buFont typeface="Arial" panose="020B0604020202020204" pitchFamily="34" charset="0"/>
              <a:buChar char="•"/>
            </a:pPr>
            <a:r>
              <a:rPr lang="fr-FR" sz="2000" dirty="0"/>
              <a:t>Dispersion importante sur l’ensemble des variables</a:t>
            </a:r>
          </a:p>
        </p:txBody>
      </p:sp>
      <p:sp>
        <p:nvSpPr>
          <p:cNvPr id="14" name="ZoneTexte 13">
            <a:extLst>
              <a:ext uri="{FF2B5EF4-FFF2-40B4-BE49-F238E27FC236}">
                <a16:creationId xmlns:a16="http://schemas.microsoft.com/office/drawing/2014/main" id="{EB9DEB60-90C1-5568-EECF-87B28C884A2C}"/>
              </a:ext>
            </a:extLst>
          </p:cNvPr>
          <p:cNvSpPr txBox="1"/>
          <p:nvPr/>
        </p:nvSpPr>
        <p:spPr>
          <a:xfrm>
            <a:off x="110835" y="4851600"/>
            <a:ext cx="6096000" cy="1323439"/>
          </a:xfrm>
          <a:prstGeom prst="rect">
            <a:avLst/>
          </a:prstGeom>
          <a:noFill/>
        </p:spPr>
        <p:txBody>
          <a:bodyPr wrap="square">
            <a:spAutoFit/>
          </a:bodyPr>
          <a:lstStyle/>
          <a:p>
            <a:pPr>
              <a:buNone/>
            </a:pPr>
            <a:r>
              <a:rPr lang="fr-FR" sz="2000" b="1" dirty="0"/>
              <a:t>Hétérogénéité des échelles</a:t>
            </a:r>
          </a:p>
          <a:p>
            <a:pPr>
              <a:buFont typeface="Arial" panose="020B0604020202020204" pitchFamily="34" charset="0"/>
              <a:buChar char="•"/>
            </a:pPr>
            <a:r>
              <a:rPr lang="fr-FR" sz="2000" dirty="0"/>
              <a:t>Variables exprimées sur des ordres de grandeur très différents</a:t>
            </a:r>
          </a:p>
          <a:p>
            <a:pPr>
              <a:buFont typeface="Arial" panose="020B0604020202020204" pitchFamily="34" charset="0"/>
              <a:buChar char="•"/>
            </a:pPr>
            <a:r>
              <a:rPr lang="fr-FR" sz="2000" dirty="0"/>
              <a:t>Comparaison directe impossible à l’état brut</a:t>
            </a:r>
          </a:p>
        </p:txBody>
      </p:sp>
      <p:pic>
        <p:nvPicPr>
          <p:cNvPr id="22" name="Image 21" descr="Une image contenant capture d’écran, texte, diagramme, Tracé&#10;&#10;Le contenu généré par l’IA peut être incorrect.">
            <a:extLst>
              <a:ext uri="{FF2B5EF4-FFF2-40B4-BE49-F238E27FC236}">
                <a16:creationId xmlns:a16="http://schemas.microsoft.com/office/drawing/2014/main" id="{8DE1CBED-7B0C-801A-B79C-E4533755DFDB}"/>
              </a:ext>
            </a:extLst>
          </p:cNvPr>
          <p:cNvPicPr>
            <a:picLocks noChangeAspect="1"/>
          </p:cNvPicPr>
          <p:nvPr/>
        </p:nvPicPr>
        <p:blipFill>
          <a:blip r:embed="rId3"/>
          <a:stretch>
            <a:fillRect/>
          </a:stretch>
        </p:blipFill>
        <p:spPr>
          <a:xfrm>
            <a:off x="6206835" y="596654"/>
            <a:ext cx="3616038" cy="3234592"/>
          </a:xfrm>
          <a:prstGeom prst="rect">
            <a:avLst/>
          </a:prstGeom>
        </p:spPr>
      </p:pic>
      <p:pic>
        <p:nvPicPr>
          <p:cNvPr id="24" name="Image 23" descr="Une image contenant capture d’écran, texte, affichage, Tracé&#10;&#10;Le contenu généré par l’IA peut être incorrect.">
            <a:extLst>
              <a:ext uri="{FF2B5EF4-FFF2-40B4-BE49-F238E27FC236}">
                <a16:creationId xmlns:a16="http://schemas.microsoft.com/office/drawing/2014/main" id="{876422E8-67F8-612B-F6BE-CC457626E4B4}"/>
              </a:ext>
            </a:extLst>
          </p:cNvPr>
          <p:cNvPicPr>
            <a:picLocks noChangeAspect="1"/>
          </p:cNvPicPr>
          <p:nvPr/>
        </p:nvPicPr>
        <p:blipFill>
          <a:blip r:embed="rId4"/>
          <a:stretch>
            <a:fillRect/>
          </a:stretch>
        </p:blipFill>
        <p:spPr>
          <a:xfrm>
            <a:off x="8499763" y="3831246"/>
            <a:ext cx="3616038" cy="3021450"/>
          </a:xfrm>
          <a:prstGeom prst="rect">
            <a:avLst/>
          </a:prstGeom>
        </p:spPr>
      </p:pic>
    </p:spTree>
    <p:extLst>
      <p:ext uri="{BB962C8B-B14F-4D97-AF65-F5344CB8AC3E}">
        <p14:creationId xmlns:p14="http://schemas.microsoft.com/office/powerpoint/2010/main" val="32657612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385462CD-E12B-8253-CB9A-37DA9CFDA49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ED399084-CC90-2261-8C11-FB3A943A76FB}"/>
              </a:ext>
            </a:extLst>
          </p:cNvPr>
          <p:cNvSpPr txBox="1"/>
          <p:nvPr/>
        </p:nvSpPr>
        <p:spPr>
          <a:xfrm>
            <a:off x="2867891" y="0"/>
            <a:ext cx="6096000" cy="707886"/>
          </a:xfrm>
          <a:prstGeom prst="rect">
            <a:avLst/>
          </a:prstGeom>
          <a:noFill/>
        </p:spPr>
        <p:txBody>
          <a:bodyPr wrap="square">
            <a:spAutoFit/>
          </a:bodyPr>
          <a:lstStyle/>
          <a:p>
            <a:r>
              <a:rPr lang="fr-FR" sz="4000" b="1" u="sng" dirty="0"/>
              <a:t>ANALYSE EXPLORATOIRE</a:t>
            </a:r>
          </a:p>
        </p:txBody>
      </p:sp>
      <p:sp>
        <p:nvSpPr>
          <p:cNvPr id="3" name="ZoneTexte 2">
            <a:extLst>
              <a:ext uri="{FF2B5EF4-FFF2-40B4-BE49-F238E27FC236}">
                <a16:creationId xmlns:a16="http://schemas.microsoft.com/office/drawing/2014/main" id="{3823B288-CF2C-37EE-1691-E868674D58B3}"/>
              </a:ext>
            </a:extLst>
          </p:cNvPr>
          <p:cNvSpPr txBox="1"/>
          <p:nvPr/>
        </p:nvSpPr>
        <p:spPr>
          <a:xfrm>
            <a:off x="0" y="707886"/>
            <a:ext cx="7495309" cy="400110"/>
          </a:xfrm>
          <a:prstGeom prst="rect">
            <a:avLst/>
          </a:prstGeom>
          <a:noFill/>
        </p:spPr>
        <p:txBody>
          <a:bodyPr wrap="square">
            <a:spAutoFit/>
          </a:bodyPr>
          <a:lstStyle/>
          <a:p>
            <a:r>
              <a:rPr lang="fr-FR" sz="2000" b="1" dirty="0"/>
              <a:t>Variable cible(</a:t>
            </a:r>
            <a:r>
              <a:rPr lang="fr-FR" dirty="0" err="1"/>
              <a:t>SiteEnergyUseWN</a:t>
            </a:r>
            <a:r>
              <a:rPr lang="fr-FR" dirty="0"/>
              <a:t>(</a:t>
            </a:r>
            <a:r>
              <a:rPr lang="fr-FR" dirty="0" err="1"/>
              <a:t>kBtu</a:t>
            </a:r>
            <a:r>
              <a:rPr lang="fr-FR" dirty="0"/>
              <a:t>)</a:t>
            </a:r>
            <a:r>
              <a:rPr lang="fr-FR" sz="2000" b="1" dirty="0"/>
              <a:t>&amp; relations avec les </a:t>
            </a:r>
            <a:r>
              <a:rPr lang="fr-FR" sz="2000" b="1" dirty="0" err="1"/>
              <a:t>features</a:t>
            </a:r>
            <a:endParaRPr lang="fr-FR" sz="2000" b="1" dirty="0"/>
          </a:p>
        </p:txBody>
      </p:sp>
      <p:sp>
        <p:nvSpPr>
          <p:cNvPr id="6" name="ZoneTexte 5">
            <a:extLst>
              <a:ext uri="{FF2B5EF4-FFF2-40B4-BE49-F238E27FC236}">
                <a16:creationId xmlns:a16="http://schemas.microsoft.com/office/drawing/2014/main" id="{E38079C7-6B5F-6682-463C-02616E8A0B36}"/>
              </a:ext>
            </a:extLst>
          </p:cNvPr>
          <p:cNvSpPr txBox="1"/>
          <p:nvPr/>
        </p:nvSpPr>
        <p:spPr>
          <a:xfrm>
            <a:off x="-1" y="1215717"/>
            <a:ext cx="6871855" cy="1323439"/>
          </a:xfrm>
          <a:prstGeom prst="rect">
            <a:avLst/>
          </a:prstGeom>
          <a:noFill/>
        </p:spPr>
        <p:txBody>
          <a:bodyPr wrap="square">
            <a:spAutoFit/>
          </a:bodyPr>
          <a:lstStyle/>
          <a:p>
            <a:pPr>
              <a:buNone/>
            </a:pPr>
            <a:r>
              <a:rPr lang="fr-FR" sz="2000" b="1" dirty="0"/>
              <a:t>Variable cible</a:t>
            </a:r>
          </a:p>
          <a:p>
            <a:pPr>
              <a:buFont typeface="Arial" panose="020B0604020202020204" pitchFamily="34" charset="0"/>
              <a:buChar char="•"/>
            </a:pPr>
            <a:r>
              <a:rPr lang="fr-FR" sz="2000" dirty="0"/>
              <a:t>Consommation énergétique annuelle totale du bâtiment</a:t>
            </a:r>
          </a:p>
          <a:p>
            <a:pPr>
              <a:buFont typeface="Arial" panose="020B0604020202020204" pitchFamily="34" charset="0"/>
              <a:buChar char="•"/>
            </a:pPr>
            <a:r>
              <a:rPr lang="fr-FR" sz="2000" dirty="0"/>
              <a:t>Distribution étendue et très dispersée</a:t>
            </a:r>
          </a:p>
          <a:p>
            <a:pPr>
              <a:buFont typeface="Arial" panose="020B0604020202020204" pitchFamily="34" charset="0"/>
              <a:buChar char="•"/>
            </a:pPr>
            <a:r>
              <a:rPr lang="fr-FR" sz="2000" dirty="0"/>
              <a:t>Présence de valeurs extrêmes</a:t>
            </a:r>
          </a:p>
        </p:txBody>
      </p:sp>
      <p:sp>
        <p:nvSpPr>
          <p:cNvPr id="8" name="ZoneTexte 7">
            <a:extLst>
              <a:ext uri="{FF2B5EF4-FFF2-40B4-BE49-F238E27FC236}">
                <a16:creationId xmlns:a16="http://schemas.microsoft.com/office/drawing/2014/main" id="{F86E9611-EC3F-D9AC-1675-74C8C5A9F575}"/>
              </a:ext>
            </a:extLst>
          </p:cNvPr>
          <p:cNvSpPr txBox="1"/>
          <p:nvPr/>
        </p:nvSpPr>
        <p:spPr>
          <a:xfrm>
            <a:off x="-1" y="2828835"/>
            <a:ext cx="6996545" cy="1323439"/>
          </a:xfrm>
          <a:prstGeom prst="rect">
            <a:avLst/>
          </a:prstGeom>
          <a:noFill/>
        </p:spPr>
        <p:txBody>
          <a:bodyPr wrap="square">
            <a:spAutoFit/>
          </a:bodyPr>
          <a:lstStyle/>
          <a:p>
            <a:pPr>
              <a:buNone/>
            </a:pPr>
            <a:r>
              <a:rPr lang="fr-FR" sz="2000" b="1" dirty="0"/>
              <a:t>Relations observées</a:t>
            </a:r>
          </a:p>
          <a:p>
            <a:pPr>
              <a:buFont typeface="Arial" panose="020B0604020202020204" pitchFamily="34" charset="0"/>
              <a:buChar char="•"/>
            </a:pPr>
            <a:r>
              <a:rPr lang="fr-FR" sz="2000" dirty="0"/>
              <a:t>Pas de relation linéaire évidente globale</a:t>
            </a:r>
          </a:p>
          <a:p>
            <a:pPr>
              <a:buFont typeface="Arial" panose="020B0604020202020204" pitchFamily="34" charset="0"/>
              <a:buChar char="•"/>
            </a:pPr>
            <a:r>
              <a:rPr lang="fr-FR" sz="2000" dirty="0"/>
              <a:t>Variables liées à la taille du bâtiment : tendance positive</a:t>
            </a:r>
          </a:p>
          <a:p>
            <a:pPr>
              <a:buFont typeface="Arial" panose="020B0604020202020204" pitchFamily="34" charset="0"/>
              <a:buChar char="•"/>
            </a:pPr>
            <a:r>
              <a:rPr lang="fr-FR" sz="2000" dirty="0"/>
              <a:t>Variables géographiques : pas de lien clair</a:t>
            </a:r>
          </a:p>
        </p:txBody>
      </p:sp>
      <p:sp>
        <p:nvSpPr>
          <p:cNvPr id="10" name="ZoneTexte 9">
            <a:extLst>
              <a:ext uri="{FF2B5EF4-FFF2-40B4-BE49-F238E27FC236}">
                <a16:creationId xmlns:a16="http://schemas.microsoft.com/office/drawing/2014/main" id="{7587967B-19AE-F65F-9C02-90D76257DAFA}"/>
              </a:ext>
            </a:extLst>
          </p:cNvPr>
          <p:cNvSpPr txBox="1"/>
          <p:nvPr/>
        </p:nvSpPr>
        <p:spPr>
          <a:xfrm>
            <a:off x="1" y="4441953"/>
            <a:ext cx="7107381" cy="1323439"/>
          </a:xfrm>
          <a:prstGeom prst="rect">
            <a:avLst/>
          </a:prstGeom>
          <a:noFill/>
        </p:spPr>
        <p:txBody>
          <a:bodyPr wrap="square">
            <a:spAutoFit/>
          </a:bodyPr>
          <a:lstStyle/>
          <a:p>
            <a:pPr>
              <a:buNone/>
            </a:pPr>
            <a:r>
              <a:rPr lang="fr-FR" sz="2000" b="1" dirty="0"/>
              <a:t>Variables d’intensité</a:t>
            </a:r>
          </a:p>
          <a:p>
            <a:pPr>
              <a:buFont typeface="Arial" panose="020B0604020202020204" pitchFamily="34" charset="0"/>
              <a:buChar char="•"/>
            </a:pPr>
            <a:r>
              <a:rPr lang="fr-FR" sz="2000" dirty="0"/>
              <a:t>Plus corrélées à la cible</a:t>
            </a:r>
          </a:p>
          <a:p>
            <a:pPr>
              <a:buFont typeface="Arial" panose="020B0604020202020204" pitchFamily="34" charset="0"/>
              <a:buChar char="•"/>
            </a:pPr>
            <a:r>
              <a:rPr lang="fr-FR" sz="2000" dirty="0"/>
              <a:t>Utilisées avec prudence pour éviter toute fuite de données</a:t>
            </a:r>
          </a:p>
          <a:p>
            <a:pPr>
              <a:buFont typeface="Arial" panose="020B0604020202020204" pitchFamily="34" charset="0"/>
              <a:buChar char="•"/>
            </a:pPr>
            <a:r>
              <a:rPr lang="fr-FR" sz="2000" dirty="0"/>
              <a:t>Les relations sont complexes et majoritairement non linéaires.</a:t>
            </a:r>
          </a:p>
        </p:txBody>
      </p:sp>
      <p:pic>
        <p:nvPicPr>
          <p:cNvPr id="4" name="Image 3" descr="Une image contenant texte, capture d’écran, affichage, logiciel&#10;&#10;Le contenu généré par l’IA peut être incorrect.">
            <a:extLst>
              <a:ext uri="{FF2B5EF4-FFF2-40B4-BE49-F238E27FC236}">
                <a16:creationId xmlns:a16="http://schemas.microsoft.com/office/drawing/2014/main" id="{1E6231F0-0FB1-98D2-C230-7EA85EA965BF}"/>
              </a:ext>
            </a:extLst>
          </p:cNvPr>
          <p:cNvPicPr>
            <a:picLocks noChangeAspect="1"/>
          </p:cNvPicPr>
          <p:nvPr/>
        </p:nvPicPr>
        <p:blipFill>
          <a:blip r:embed="rId3"/>
          <a:stretch>
            <a:fillRect/>
          </a:stretch>
        </p:blipFill>
        <p:spPr>
          <a:xfrm>
            <a:off x="7777581" y="3535234"/>
            <a:ext cx="4414417" cy="3322765"/>
          </a:xfrm>
          <a:prstGeom prst="rect">
            <a:avLst/>
          </a:prstGeom>
        </p:spPr>
      </p:pic>
      <p:pic>
        <p:nvPicPr>
          <p:cNvPr id="9" name="Image 8" descr="Une image contenant texte, capture d’écran, affichage, logiciel&#10;&#10;Le contenu généré par l’IA peut être incorrect.">
            <a:extLst>
              <a:ext uri="{FF2B5EF4-FFF2-40B4-BE49-F238E27FC236}">
                <a16:creationId xmlns:a16="http://schemas.microsoft.com/office/drawing/2014/main" id="{0AC483E9-67A8-3903-67E4-A340C67C5EE6}"/>
              </a:ext>
            </a:extLst>
          </p:cNvPr>
          <p:cNvPicPr>
            <a:picLocks noChangeAspect="1"/>
          </p:cNvPicPr>
          <p:nvPr/>
        </p:nvPicPr>
        <p:blipFill>
          <a:blip r:embed="rId4"/>
          <a:stretch>
            <a:fillRect/>
          </a:stretch>
        </p:blipFill>
        <p:spPr>
          <a:xfrm>
            <a:off x="7777581" y="542686"/>
            <a:ext cx="4414419" cy="2938066"/>
          </a:xfrm>
          <a:prstGeom prst="rect">
            <a:avLst/>
          </a:prstGeom>
        </p:spPr>
      </p:pic>
    </p:spTree>
    <p:extLst>
      <p:ext uri="{BB962C8B-B14F-4D97-AF65-F5344CB8AC3E}">
        <p14:creationId xmlns:p14="http://schemas.microsoft.com/office/powerpoint/2010/main" val="21060206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4FAE9FC0-6466-540D-6F85-8B99692F41B4}"/>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C565849-2CBB-5071-1ADD-69B152D2A86F}"/>
              </a:ext>
            </a:extLst>
          </p:cNvPr>
          <p:cNvSpPr txBox="1"/>
          <p:nvPr/>
        </p:nvSpPr>
        <p:spPr>
          <a:xfrm>
            <a:off x="2867891" y="0"/>
            <a:ext cx="6096000" cy="707886"/>
          </a:xfrm>
          <a:prstGeom prst="rect">
            <a:avLst/>
          </a:prstGeom>
          <a:noFill/>
        </p:spPr>
        <p:txBody>
          <a:bodyPr wrap="square">
            <a:spAutoFit/>
          </a:bodyPr>
          <a:lstStyle/>
          <a:p>
            <a:r>
              <a:rPr lang="fr-FR" sz="4000" b="1" u="sng" dirty="0"/>
              <a:t>ANALYSE EXPLORATOIRE</a:t>
            </a:r>
          </a:p>
        </p:txBody>
      </p:sp>
      <p:sp>
        <p:nvSpPr>
          <p:cNvPr id="3" name="ZoneTexte 2">
            <a:extLst>
              <a:ext uri="{FF2B5EF4-FFF2-40B4-BE49-F238E27FC236}">
                <a16:creationId xmlns:a16="http://schemas.microsoft.com/office/drawing/2014/main" id="{9F825491-1B5A-6E28-D202-746FD0883B27}"/>
              </a:ext>
            </a:extLst>
          </p:cNvPr>
          <p:cNvSpPr txBox="1"/>
          <p:nvPr/>
        </p:nvSpPr>
        <p:spPr>
          <a:xfrm>
            <a:off x="0" y="707886"/>
            <a:ext cx="6096000" cy="400110"/>
          </a:xfrm>
          <a:prstGeom prst="rect">
            <a:avLst/>
          </a:prstGeom>
          <a:noFill/>
        </p:spPr>
        <p:txBody>
          <a:bodyPr wrap="square">
            <a:spAutoFit/>
          </a:bodyPr>
          <a:lstStyle/>
          <a:p>
            <a:r>
              <a:rPr lang="fr-FR" sz="2000" b="1" dirty="0"/>
              <a:t>Variables catégorielles &amp; conclusion</a:t>
            </a:r>
          </a:p>
        </p:txBody>
      </p:sp>
      <p:sp>
        <p:nvSpPr>
          <p:cNvPr id="6" name="ZoneTexte 5">
            <a:extLst>
              <a:ext uri="{FF2B5EF4-FFF2-40B4-BE49-F238E27FC236}">
                <a16:creationId xmlns:a16="http://schemas.microsoft.com/office/drawing/2014/main" id="{1D070DF9-FC67-D3F5-3456-656CC4098976}"/>
              </a:ext>
            </a:extLst>
          </p:cNvPr>
          <p:cNvSpPr txBox="1"/>
          <p:nvPr/>
        </p:nvSpPr>
        <p:spPr>
          <a:xfrm>
            <a:off x="0" y="1330397"/>
            <a:ext cx="5846618" cy="1938992"/>
          </a:xfrm>
          <a:prstGeom prst="rect">
            <a:avLst/>
          </a:prstGeom>
          <a:noFill/>
        </p:spPr>
        <p:txBody>
          <a:bodyPr wrap="square">
            <a:spAutoFit/>
          </a:bodyPr>
          <a:lstStyle/>
          <a:p>
            <a:pPr>
              <a:buNone/>
            </a:pPr>
            <a:r>
              <a:rPr lang="fr-FR" sz="2000" b="1" dirty="0"/>
              <a:t>Effet des variables catégorielles</a:t>
            </a:r>
          </a:p>
          <a:p>
            <a:pPr>
              <a:buFont typeface="Arial" panose="020B0604020202020204" pitchFamily="34" charset="0"/>
              <a:buChar char="•"/>
            </a:pPr>
            <a:r>
              <a:rPr lang="fr-FR" sz="2000" dirty="0"/>
              <a:t>La consommation varie selon le type de bâtiment</a:t>
            </a:r>
          </a:p>
          <a:p>
            <a:pPr>
              <a:buFont typeface="Arial" panose="020B0604020202020204" pitchFamily="34" charset="0"/>
              <a:buChar char="•"/>
            </a:pPr>
            <a:r>
              <a:rPr lang="fr-FR" sz="2000" dirty="0"/>
              <a:t>Certaines catégories :</a:t>
            </a:r>
          </a:p>
          <a:p>
            <a:pPr marL="742950" lvl="1" indent="-285750">
              <a:buFont typeface="Arial" panose="020B0604020202020204" pitchFamily="34" charset="0"/>
              <a:buChar char="•"/>
            </a:pPr>
            <a:r>
              <a:rPr lang="fr-FR" sz="2000" dirty="0"/>
              <a:t>plus consommatrices</a:t>
            </a:r>
          </a:p>
          <a:p>
            <a:pPr marL="742950" lvl="1" indent="-285750">
              <a:buFont typeface="Arial" panose="020B0604020202020204" pitchFamily="34" charset="0"/>
              <a:buChar char="•"/>
            </a:pPr>
            <a:r>
              <a:rPr lang="fr-FR" sz="2000" dirty="0"/>
              <a:t>plus dispersées</a:t>
            </a:r>
          </a:p>
          <a:p>
            <a:pPr>
              <a:buFont typeface="Arial" panose="020B0604020202020204" pitchFamily="34" charset="0"/>
              <a:buChar char="•"/>
            </a:pPr>
            <a:r>
              <a:rPr lang="fr-FR" sz="2000" dirty="0"/>
              <a:t>Différences marquées entre groupes</a:t>
            </a:r>
          </a:p>
        </p:txBody>
      </p:sp>
      <p:sp>
        <p:nvSpPr>
          <p:cNvPr id="8" name="ZoneTexte 7">
            <a:extLst>
              <a:ext uri="{FF2B5EF4-FFF2-40B4-BE49-F238E27FC236}">
                <a16:creationId xmlns:a16="http://schemas.microsoft.com/office/drawing/2014/main" id="{53E14BEE-EA43-94D4-A74E-D7A768A3AC58}"/>
              </a:ext>
            </a:extLst>
          </p:cNvPr>
          <p:cNvSpPr txBox="1"/>
          <p:nvPr/>
        </p:nvSpPr>
        <p:spPr>
          <a:xfrm>
            <a:off x="0" y="3491790"/>
            <a:ext cx="6130636" cy="923330"/>
          </a:xfrm>
          <a:prstGeom prst="rect">
            <a:avLst/>
          </a:prstGeom>
          <a:noFill/>
        </p:spPr>
        <p:txBody>
          <a:bodyPr wrap="square">
            <a:spAutoFit/>
          </a:bodyPr>
          <a:lstStyle/>
          <a:p>
            <a:pPr>
              <a:buNone/>
            </a:pPr>
            <a:r>
              <a:rPr lang="fr-FR" b="1" dirty="0"/>
              <a:t>Qualité des données</a:t>
            </a:r>
          </a:p>
          <a:p>
            <a:pPr>
              <a:buFont typeface="Arial" panose="020B0604020202020204" pitchFamily="34" charset="0"/>
              <a:buChar char="•"/>
            </a:pPr>
            <a:r>
              <a:rPr lang="fr-FR" dirty="0"/>
              <a:t>Présence de valeurs manquantes sur certaines variables</a:t>
            </a:r>
          </a:p>
          <a:p>
            <a:pPr>
              <a:buFont typeface="Arial" panose="020B0604020202020204" pitchFamily="34" charset="0"/>
              <a:buChar char="•"/>
            </a:pPr>
            <a:r>
              <a:rPr lang="fr-FR" dirty="0"/>
              <a:t>Filtrage nécessaire pour garantir des données exploitables</a:t>
            </a:r>
          </a:p>
        </p:txBody>
      </p:sp>
      <p:sp>
        <p:nvSpPr>
          <p:cNvPr id="10" name="ZoneTexte 9">
            <a:extLst>
              <a:ext uri="{FF2B5EF4-FFF2-40B4-BE49-F238E27FC236}">
                <a16:creationId xmlns:a16="http://schemas.microsoft.com/office/drawing/2014/main" id="{07ED35C3-B9BD-587B-42BE-43C864AE4E8F}"/>
              </a:ext>
            </a:extLst>
          </p:cNvPr>
          <p:cNvSpPr txBox="1"/>
          <p:nvPr/>
        </p:nvSpPr>
        <p:spPr>
          <a:xfrm>
            <a:off x="0" y="4637521"/>
            <a:ext cx="7626927" cy="1477328"/>
          </a:xfrm>
          <a:prstGeom prst="rect">
            <a:avLst/>
          </a:prstGeom>
          <a:noFill/>
        </p:spPr>
        <p:txBody>
          <a:bodyPr wrap="square">
            <a:spAutoFit/>
          </a:bodyPr>
          <a:lstStyle/>
          <a:p>
            <a:pPr>
              <a:buNone/>
            </a:pPr>
            <a:r>
              <a:rPr lang="fr-FR" b="1" dirty="0"/>
              <a:t>Conclusion de l’EDA</a:t>
            </a:r>
          </a:p>
          <a:p>
            <a:pPr>
              <a:buFont typeface="Arial" panose="020B0604020202020204" pitchFamily="34" charset="0"/>
              <a:buChar char="•"/>
            </a:pPr>
            <a:r>
              <a:rPr lang="fr-FR" dirty="0"/>
              <a:t>Données riches mais complexes</a:t>
            </a:r>
          </a:p>
          <a:p>
            <a:pPr>
              <a:buFont typeface="Arial" panose="020B0604020202020204" pitchFamily="34" charset="0"/>
              <a:buChar char="•"/>
            </a:pPr>
            <a:r>
              <a:rPr lang="fr-FR" dirty="0"/>
              <a:t>Forte hétérogénéité</a:t>
            </a:r>
          </a:p>
          <a:p>
            <a:pPr>
              <a:buFont typeface="Arial" panose="020B0604020202020204" pitchFamily="34" charset="0"/>
              <a:buChar char="•"/>
            </a:pPr>
            <a:r>
              <a:rPr lang="fr-FR" dirty="0"/>
              <a:t>Besoin d’un nettoyage, d’une sélection et d’une préparation approfondie</a:t>
            </a:r>
          </a:p>
          <a:p>
            <a:pPr>
              <a:buFont typeface="Arial" panose="020B0604020202020204" pitchFamily="34" charset="0"/>
              <a:buChar char="•"/>
            </a:pPr>
            <a:r>
              <a:rPr lang="fr-FR" dirty="0"/>
              <a:t>L’EDA guide directement les choix de préparation et de modélisation.</a:t>
            </a:r>
          </a:p>
        </p:txBody>
      </p:sp>
      <p:pic>
        <p:nvPicPr>
          <p:cNvPr id="12" name="Image 11" descr="Une image contenant texte, capture d’écran, diagramme, Police&#10;&#10;Le contenu généré par l’IA peut être incorrect.">
            <a:extLst>
              <a:ext uri="{FF2B5EF4-FFF2-40B4-BE49-F238E27FC236}">
                <a16:creationId xmlns:a16="http://schemas.microsoft.com/office/drawing/2014/main" id="{E6F28437-9874-E51F-2E0F-2974454815DD}"/>
              </a:ext>
            </a:extLst>
          </p:cNvPr>
          <p:cNvPicPr>
            <a:picLocks noChangeAspect="1"/>
          </p:cNvPicPr>
          <p:nvPr/>
        </p:nvPicPr>
        <p:blipFill>
          <a:blip r:embed="rId3"/>
          <a:stretch>
            <a:fillRect/>
          </a:stretch>
        </p:blipFill>
        <p:spPr>
          <a:xfrm>
            <a:off x="5978470" y="907657"/>
            <a:ext cx="6130636" cy="4652560"/>
          </a:xfrm>
          <a:prstGeom prst="rect">
            <a:avLst/>
          </a:prstGeom>
        </p:spPr>
      </p:pic>
    </p:spTree>
    <p:extLst>
      <p:ext uri="{BB962C8B-B14F-4D97-AF65-F5344CB8AC3E}">
        <p14:creationId xmlns:p14="http://schemas.microsoft.com/office/powerpoint/2010/main" val="16895259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FA0B81F1-46BC-438B-8515-2111A67772D9}"/>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53AB6EE9-EEEC-03F6-6B9B-BE3E6E37B2F9}"/>
              </a:ext>
            </a:extLst>
          </p:cNvPr>
          <p:cNvSpPr txBox="1"/>
          <p:nvPr/>
        </p:nvSpPr>
        <p:spPr>
          <a:xfrm>
            <a:off x="3733800" y="99351"/>
            <a:ext cx="4724400" cy="461665"/>
          </a:xfrm>
          <a:prstGeom prst="rect">
            <a:avLst/>
          </a:prstGeom>
          <a:noFill/>
        </p:spPr>
        <p:txBody>
          <a:bodyPr wrap="square">
            <a:spAutoFit/>
          </a:bodyPr>
          <a:lstStyle/>
          <a:p>
            <a:r>
              <a:rPr lang="fr-FR" sz="2400" b="1" u="sng" dirty="0"/>
              <a:t>PRÉPARATION DES DONNÉES</a:t>
            </a:r>
          </a:p>
        </p:txBody>
      </p:sp>
      <p:sp>
        <p:nvSpPr>
          <p:cNvPr id="14" name="ZoneTexte 13">
            <a:extLst>
              <a:ext uri="{FF2B5EF4-FFF2-40B4-BE49-F238E27FC236}">
                <a16:creationId xmlns:a16="http://schemas.microsoft.com/office/drawing/2014/main" id="{9BB0FD57-B7C7-E14A-B0C8-FE2A29665F49}"/>
              </a:ext>
            </a:extLst>
          </p:cNvPr>
          <p:cNvSpPr txBox="1"/>
          <p:nvPr/>
        </p:nvSpPr>
        <p:spPr>
          <a:xfrm>
            <a:off x="0" y="1463840"/>
            <a:ext cx="6664036" cy="1323439"/>
          </a:xfrm>
          <a:prstGeom prst="rect">
            <a:avLst/>
          </a:prstGeom>
          <a:noFill/>
        </p:spPr>
        <p:txBody>
          <a:bodyPr wrap="square">
            <a:spAutoFit/>
          </a:bodyPr>
          <a:lstStyle/>
          <a:p>
            <a:pPr>
              <a:buNone/>
            </a:pPr>
            <a:r>
              <a:rPr lang="fr-FR" sz="2000" b="1" dirty="0"/>
              <a:t>Identifications des valeurs manquantes</a:t>
            </a:r>
          </a:p>
          <a:p>
            <a:pPr>
              <a:buFont typeface="Arial" panose="020B0604020202020204" pitchFamily="34" charset="0"/>
              <a:buChar char="•"/>
            </a:pPr>
            <a:r>
              <a:rPr lang="fr-FR" sz="2000" dirty="0"/>
              <a:t>Présence de valeurs manquantes sur certaines variables</a:t>
            </a:r>
          </a:p>
          <a:p>
            <a:pPr>
              <a:buFont typeface="Arial" panose="020B0604020202020204" pitchFamily="34" charset="0"/>
              <a:buChar char="•"/>
            </a:pPr>
            <a:r>
              <a:rPr lang="fr-FR" sz="2000" dirty="0"/>
              <a:t>Variables liées aux </a:t>
            </a:r>
            <a:r>
              <a:rPr lang="fr-FR" sz="2000" b="1" dirty="0"/>
              <a:t>usages secondaires</a:t>
            </a:r>
            <a:r>
              <a:rPr lang="fr-FR" sz="2000" dirty="0"/>
              <a:t> très incomplètes</a:t>
            </a:r>
          </a:p>
          <a:p>
            <a:pPr>
              <a:buFont typeface="Arial" panose="020B0604020202020204" pitchFamily="34" charset="0"/>
              <a:buChar char="•"/>
            </a:pPr>
            <a:r>
              <a:rPr lang="fr-FR" sz="2000" dirty="0"/>
              <a:t>Certaines variables administratives peu informatives</a:t>
            </a:r>
          </a:p>
        </p:txBody>
      </p:sp>
      <p:sp>
        <p:nvSpPr>
          <p:cNvPr id="16" name="ZoneTexte 15">
            <a:extLst>
              <a:ext uri="{FF2B5EF4-FFF2-40B4-BE49-F238E27FC236}">
                <a16:creationId xmlns:a16="http://schemas.microsoft.com/office/drawing/2014/main" id="{21E7F6DA-C0FB-5175-C22E-3BD7D74DF434}"/>
              </a:ext>
            </a:extLst>
          </p:cNvPr>
          <p:cNvSpPr txBox="1"/>
          <p:nvPr/>
        </p:nvSpPr>
        <p:spPr>
          <a:xfrm>
            <a:off x="-34636" y="3172928"/>
            <a:ext cx="7765472" cy="1323439"/>
          </a:xfrm>
          <a:prstGeom prst="rect">
            <a:avLst/>
          </a:prstGeom>
          <a:noFill/>
        </p:spPr>
        <p:txBody>
          <a:bodyPr wrap="square">
            <a:spAutoFit/>
          </a:bodyPr>
          <a:lstStyle/>
          <a:p>
            <a:pPr>
              <a:buNone/>
            </a:pPr>
            <a:r>
              <a:rPr lang="fr-FR" sz="2000" b="1" dirty="0"/>
              <a:t>Choix effectués</a:t>
            </a:r>
          </a:p>
          <a:p>
            <a:pPr>
              <a:buFont typeface="Arial" panose="020B0604020202020204" pitchFamily="34" charset="0"/>
              <a:buChar char="•"/>
            </a:pPr>
            <a:r>
              <a:rPr lang="fr-FR" sz="2000" dirty="0"/>
              <a:t>Suppression des observations sans variable cible</a:t>
            </a:r>
          </a:p>
          <a:p>
            <a:pPr>
              <a:buFont typeface="Arial" panose="020B0604020202020204" pitchFamily="34" charset="0"/>
              <a:buChar char="•"/>
            </a:pPr>
            <a:r>
              <a:rPr lang="fr-FR" sz="2000" dirty="0"/>
              <a:t>Exclusion des variables avec un taux élevé de valeurs manquantes</a:t>
            </a:r>
          </a:p>
          <a:p>
            <a:pPr>
              <a:buFont typeface="Arial" panose="020B0604020202020204" pitchFamily="34" charset="0"/>
              <a:buChar char="•"/>
            </a:pPr>
            <a:r>
              <a:rPr lang="fr-FR" sz="2000" dirty="0"/>
              <a:t>Imputation limitée aux variables numériques pertinentes</a:t>
            </a:r>
          </a:p>
        </p:txBody>
      </p:sp>
      <p:sp>
        <p:nvSpPr>
          <p:cNvPr id="18" name="ZoneTexte 17">
            <a:extLst>
              <a:ext uri="{FF2B5EF4-FFF2-40B4-BE49-F238E27FC236}">
                <a16:creationId xmlns:a16="http://schemas.microsoft.com/office/drawing/2014/main" id="{200DD9EF-5B6D-670F-AE66-AE412D81A45A}"/>
              </a:ext>
            </a:extLst>
          </p:cNvPr>
          <p:cNvSpPr txBox="1"/>
          <p:nvPr/>
        </p:nvSpPr>
        <p:spPr>
          <a:xfrm>
            <a:off x="-34636" y="4828876"/>
            <a:ext cx="7412182" cy="923330"/>
          </a:xfrm>
          <a:prstGeom prst="rect">
            <a:avLst/>
          </a:prstGeom>
          <a:noFill/>
        </p:spPr>
        <p:txBody>
          <a:bodyPr wrap="square">
            <a:spAutoFit/>
          </a:bodyPr>
          <a:lstStyle/>
          <a:p>
            <a:pPr>
              <a:buNone/>
            </a:pPr>
            <a:r>
              <a:rPr lang="fr-FR" b="1" dirty="0"/>
              <a:t>Justification</a:t>
            </a:r>
          </a:p>
          <a:p>
            <a:pPr>
              <a:buNone/>
            </a:pPr>
            <a:r>
              <a:rPr lang="fr-FR" dirty="0"/>
              <a:t>Les valeurs manquantes sont principalement structurelles et leur imputation n’a pas toujours de sens métier</a:t>
            </a:r>
          </a:p>
        </p:txBody>
      </p:sp>
      <p:sp>
        <p:nvSpPr>
          <p:cNvPr id="20" name="ZoneTexte 19">
            <a:extLst>
              <a:ext uri="{FF2B5EF4-FFF2-40B4-BE49-F238E27FC236}">
                <a16:creationId xmlns:a16="http://schemas.microsoft.com/office/drawing/2014/main" id="{D3FC7DFC-E69E-2C4A-3B31-6D0F6F079DCF}"/>
              </a:ext>
            </a:extLst>
          </p:cNvPr>
          <p:cNvSpPr txBox="1"/>
          <p:nvPr/>
        </p:nvSpPr>
        <p:spPr>
          <a:xfrm>
            <a:off x="0" y="708859"/>
            <a:ext cx="6144490" cy="400110"/>
          </a:xfrm>
          <a:prstGeom prst="rect">
            <a:avLst/>
          </a:prstGeom>
          <a:noFill/>
        </p:spPr>
        <p:txBody>
          <a:bodyPr wrap="square">
            <a:spAutoFit/>
          </a:bodyPr>
          <a:lstStyle/>
          <a:p>
            <a:r>
              <a:rPr lang="fr-FR" sz="2000" b="1" dirty="0"/>
              <a:t>Traitement des valeurs manquantes</a:t>
            </a:r>
          </a:p>
        </p:txBody>
      </p:sp>
      <p:pic>
        <p:nvPicPr>
          <p:cNvPr id="22" name="Image 21" descr="Une image contenant capture d’écran, Rectangle, Parallèle, noir et blanc&#10;&#10;Le contenu généré par l’IA peut être incorrect.">
            <a:extLst>
              <a:ext uri="{FF2B5EF4-FFF2-40B4-BE49-F238E27FC236}">
                <a16:creationId xmlns:a16="http://schemas.microsoft.com/office/drawing/2014/main" id="{4B84BBA5-D85F-3D5C-A4AA-23AA766ECBB6}"/>
              </a:ext>
            </a:extLst>
          </p:cNvPr>
          <p:cNvPicPr>
            <a:picLocks noChangeAspect="1"/>
          </p:cNvPicPr>
          <p:nvPr/>
        </p:nvPicPr>
        <p:blipFill>
          <a:blip r:embed="rId3"/>
          <a:stretch>
            <a:fillRect/>
          </a:stretch>
        </p:blipFill>
        <p:spPr>
          <a:xfrm>
            <a:off x="6525491" y="561016"/>
            <a:ext cx="5616431" cy="3132489"/>
          </a:xfrm>
          <a:prstGeom prst="rect">
            <a:avLst/>
          </a:prstGeom>
        </p:spPr>
      </p:pic>
      <p:pic>
        <p:nvPicPr>
          <p:cNvPr id="24" name="Image 23" descr="Une image contenant capture d’écran, Rectangle, ligne, noir et blanc&#10;&#10;Le contenu généré par l’IA peut être incorrect.">
            <a:extLst>
              <a:ext uri="{FF2B5EF4-FFF2-40B4-BE49-F238E27FC236}">
                <a16:creationId xmlns:a16="http://schemas.microsoft.com/office/drawing/2014/main" id="{93DC3F38-68FF-A4B3-9F14-83C210D952E5}"/>
              </a:ext>
            </a:extLst>
          </p:cNvPr>
          <p:cNvPicPr>
            <a:picLocks noChangeAspect="1"/>
          </p:cNvPicPr>
          <p:nvPr/>
        </p:nvPicPr>
        <p:blipFill>
          <a:blip r:embed="rId4"/>
          <a:stretch>
            <a:fillRect/>
          </a:stretch>
        </p:blipFill>
        <p:spPr>
          <a:xfrm>
            <a:off x="6525491" y="4114702"/>
            <a:ext cx="5616431" cy="2643947"/>
          </a:xfrm>
          <a:prstGeom prst="rect">
            <a:avLst/>
          </a:prstGeom>
        </p:spPr>
      </p:pic>
    </p:spTree>
    <p:extLst>
      <p:ext uri="{BB962C8B-B14F-4D97-AF65-F5344CB8AC3E}">
        <p14:creationId xmlns:p14="http://schemas.microsoft.com/office/powerpoint/2010/main" val="42647664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96FED065-6386-5EB8-5B6D-1012A29A0FEF}"/>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05EC113-E2EA-EDEA-38A5-A1E8FB27E955}"/>
              </a:ext>
            </a:extLst>
          </p:cNvPr>
          <p:cNvSpPr txBox="1"/>
          <p:nvPr/>
        </p:nvSpPr>
        <p:spPr>
          <a:xfrm>
            <a:off x="4156363" y="0"/>
            <a:ext cx="6096000" cy="461665"/>
          </a:xfrm>
          <a:prstGeom prst="rect">
            <a:avLst/>
          </a:prstGeom>
          <a:noFill/>
        </p:spPr>
        <p:txBody>
          <a:bodyPr wrap="square">
            <a:spAutoFit/>
          </a:bodyPr>
          <a:lstStyle/>
          <a:p>
            <a:r>
              <a:rPr lang="fr-FR" sz="2400" b="1" u="sng" dirty="0"/>
              <a:t>PRÉPARATION DES DONNÉES</a:t>
            </a:r>
          </a:p>
        </p:txBody>
      </p:sp>
      <p:sp>
        <p:nvSpPr>
          <p:cNvPr id="7" name="ZoneTexte 6">
            <a:extLst>
              <a:ext uri="{FF2B5EF4-FFF2-40B4-BE49-F238E27FC236}">
                <a16:creationId xmlns:a16="http://schemas.microsoft.com/office/drawing/2014/main" id="{E86B2D00-1ECC-9C91-35F8-E9435F625C5E}"/>
              </a:ext>
            </a:extLst>
          </p:cNvPr>
          <p:cNvSpPr txBox="1"/>
          <p:nvPr/>
        </p:nvSpPr>
        <p:spPr>
          <a:xfrm>
            <a:off x="0" y="449748"/>
            <a:ext cx="6096000" cy="400110"/>
          </a:xfrm>
          <a:prstGeom prst="rect">
            <a:avLst/>
          </a:prstGeom>
          <a:noFill/>
        </p:spPr>
        <p:txBody>
          <a:bodyPr wrap="square">
            <a:spAutoFit/>
          </a:bodyPr>
          <a:lstStyle/>
          <a:p>
            <a:r>
              <a:rPr lang="fr-FR" sz="2000" b="1" dirty="0"/>
              <a:t>Gestion des valeurs aberrantes : </a:t>
            </a:r>
          </a:p>
        </p:txBody>
      </p:sp>
      <p:sp>
        <p:nvSpPr>
          <p:cNvPr id="9" name="ZoneTexte 8">
            <a:extLst>
              <a:ext uri="{FF2B5EF4-FFF2-40B4-BE49-F238E27FC236}">
                <a16:creationId xmlns:a16="http://schemas.microsoft.com/office/drawing/2014/main" id="{566668CA-7099-BD7C-2CAB-E661D7124F5C}"/>
              </a:ext>
            </a:extLst>
          </p:cNvPr>
          <p:cNvSpPr txBox="1"/>
          <p:nvPr/>
        </p:nvSpPr>
        <p:spPr>
          <a:xfrm>
            <a:off x="-34637" y="923330"/>
            <a:ext cx="9030356" cy="1323439"/>
          </a:xfrm>
          <a:prstGeom prst="rect">
            <a:avLst/>
          </a:prstGeom>
          <a:noFill/>
        </p:spPr>
        <p:txBody>
          <a:bodyPr wrap="square">
            <a:spAutoFit/>
          </a:bodyPr>
          <a:lstStyle/>
          <a:p>
            <a:r>
              <a:rPr lang="fr-FR" sz="2000" b="1" dirty="0"/>
              <a:t>Analyse des valeurs aberrantes</a:t>
            </a:r>
          </a:p>
          <a:p>
            <a:r>
              <a:rPr lang="fr-FR" sz="2000" dirty="0"/>
              <a:t>Présence d’</a:t>
            </a:r>
            <a:r>
              <a:rPr lang="fr-FR" sz="2000" dirty="0" err="1"/>
              <a:t>outliers</a:t>
            </a:r>
            <a:r>
              <a:rPr lang="fr-FR" sz="2000" dirty="0"/>
              <a:t> sur de nombreuses variables énergétiques et structurelles</a:t>
            </a:r>
          </a:p>
          <a:p>
            <a:r>
              <a:rPr lang="fr-FR" sz="2000" dirty="0"/>
              <a:t>Distributions fortement asymétriques (longue traîne à droite)</a:t>
            </a:r>
          </a:p>
          <a:p>
            <a:r>
              <a:rPr lang="fr-FR" sz="2000" dirty="0"/>
              <a:t>Identification via </a:t>
            </a:r>
            <a:r>
              <a:rPr lang="fr-FR" sz="2000" b="1" dirty="0"/>
              <a:t>méthode IQR</a:t>
            </a:r>
            <a:r>
              <a:rPr lang="fr-FR" sz="2000" dirty="0"/>
              <a:t>, utilisée comme outil d’aide à la décision</a:t>
            </a:r>
          </a:p>
        </p:txBody>
      </p:sp>
      <p:sp>
        <p:nvSpPr>
          <p:cNvPr id="11" name="ZoneTexte 10">
            <a:extLst>
              <a:ext uri="{FF2B5EF4-FFF2-40B4-BE49-F238E27FC236}">
                <a16:creationId xmlns:a16="http://schemas.microsoft.com/office/drawing/2014/main" id="{A5E2BEA3-1B85-724C-13BF-81F4964719AB}"/>
              </a:ext>
            </a:extLst>
          </p:cNvPr>
          <p:cNvSpPr txBox="1"/>
          <p:nvPr/>
        </p:nvSpPr>
        <p:spPr>
          <a:xfrm>
            <a:off x="6258" y="2335303"/>
            <a:ext cx="8414951" cy="1631216"/>
          </a:xfrm>
          <a:prstGeom prst="rect">
            <a:avLst/>
          </a:prstGeom>
          <a:noFill/>
        </p:spPr>
        <p:txBody>
          <a:bodyPr wrap="square">
            <a:spAutoFit/>
          </a:bodyPr>
          <a:lstStyle/>
          <a:p>
            <a:r>
              <a:rPr lang="fr-FR" sz="2000" b="1" dirty="0"/>
              <a:t>Traitements réalisés</a:t>
            </a:r>
          </a:p>
          <a:p>
            <a:r>
              <a:rPr lang="fr-FR" sz="2000" dirty="0"/>
              <a:t>Filtrage des valeurs négatives sur les variables énergétiques</a:t>
            </a:r>
          </a:p>
          <a:p>
            <a:r>
              <a:rPr lang="fr-FR" sz="2000" dirty="0"/>
              <a:t>Suppression ponctuelle d’</a:t>
            </a:r>
            <a:r>
              <a:rPr lang="fr-FR" sz="2000" dirty="0" err="1"/>
              <a:t>outliers</a:t>
            </a:r>
            <a:r>
              <a:rPr lang="fr-FR" sz="2000" dirty="0"/>
              <a:t> non plausibles détectés par IQR</a:t>
            </a:r>
          </a:p>
          <a:p>
            <a:r>
              <a:rPr lang="fr-FR" sz="2000" dirty="0"/>
              <a:t>Transformation logarithmique (</a:t>
            </a:r>
            <a:r>
              <a:rPr lang="fr-FR" dirty="0"/>
              <a:t>log1p</a:t>
            </a:r>
            <a:r>
              <a:rPr lang="fr-FR" sz="2000" dirty="0"/>
              <a:t>) des variables fortement asymétriques</a:t>
            </a:r>
          </a:p>
          <a:p>
            <a:r>
              <a:rPr lang="fr-FR" sz="2000" dirty="0"/>
              <a:t>Mise à l’échelle robuste adaptée aux distributions non gaussiennes</a:t>
            </a:r>
          </a:p>
        </p:txBody>
      </p:sp>
      <p:sp>
        <p:nvSpPr>
          <p:cNvPr id="13" name="ZoneTexte 12">
            <a:extLst>
              <a:ext uri="{FF2B5EF4-FFF2-40B4-BE49-F238E27FC236}">
                <a16:creationId xmlns:a16="http://schemas.microsoft.com/office/drawing/2014/main" id="{FF7DD980-E93F-652D-9379-116BC7025210}"/>
              </a:ext>
            </a:extLst>
          </p:cNvPr>
          <p:cNvSpPr txBox="1"/>
          <p:nvPr/>
        </p:nvSpPr>
        <p:spPr>
          <a:xfrm>
            <a:off x="0" y="4323783"/>
            <a:ext cx="6376555" cy="1015663"/>
          </a:xfrm>
          <a:prstGeom prst="rect">
            <a:avLst/>
          </a:prstGeom>
          <a:noFill/>
        </p:spPr>
        <p:txBody>
          <a:bodyPr wrap="square">
            <a:spAutoFit/>
          </a:bodyPr>
          <a:lstStyle/>
          <a:p>
            <a:pPr>
              <a:buNone/>
            </a:pPr>
            <a:r>
              <a:rPr lang="fr-FR" sz="2000" b="1" dirty="0"/>
              <a:t>Justification</a:t>
            </a:r>
          </a:p>
          <a:p>
            <a:pPr>
              <a:buNone/>
            </a:pPr>
            <a:r>
              <a:rPr lang="fr-FR" sz="2000" dirty="0"/>
              <a:t>Les valeurs extrêmes font partie de la réalité énergétique et ne doivent pas être supprimées systématiquement.</a:t>
            </a:r>
          </a:p>
        </p:txBody>
      </p:sp>
      <p:pic>
        <p:nvPicPr>
          <p:cNvPr id="15" name="Image 14" descr="Une image contenant texte, capture d’écran, Police, conception&#10;&#10;Le contenu généré par l’IA peut être incorrect.">
            <a:extLst>
              <a:ext uri="{FF2B5EF4-FFF2-40B4-BE49-F238E27FC236}">
                <a16:creationId xmlns:a16="http://schemas.microsoft.com/office/drawing/2014/main" id="{FD4AD77F-2EB7-A1FA-5645-359ABA58513F}"/>
              </a:ext>
            </a:extLst>
          </p:cNvPr>
          <p:cNvPicPr>
            <a:picLocks noChangeAspect="1"/>
          </p:cNvPicPr>
          <p:nvPr/>
        </p:nvPicPr>
        <p:blipFill>
          <a:blip r:embed="rId3"/>
          <a:stretch>
            <a:fillRect/>
          </a:stretch>
        </p:blipFill>
        <p:spPr>
          <a:xfrm>
            <a:off x="8603673" y="49638"/>
            <a:ext cx="3588327" cy="3780957"/>
          </a:xfrm>
          <a:prstGeom prst="rect">
            <a:avLst/>
          </a:prstGeom>
        </p:spPr>
      </p:pic>
      <p:pic>
        <p:nvPicPr>
          <p:cNvPr id="19" name="Image 18" descr="Une image contenant capture d’écran, texte, diagramme, Tracé&#10;&#10;Le contenu généré par l’IA peut être incorrect.">
            <a:extLst>
              <a:ext uri="{FF2B5EF4-FFF2-40B4-BE49-F238E27FC236}">
                <a16:creationId xmlns:a16="http://schemas.microsoft.com/office/drawing/2014/main" id="{A5A74159-5BAC-8716-16C1-AF409070121E}"/>
              </a:ext>
            </a:extLst>
          </p:cNvPr>
          <p:cNvPicPr>
            <a:picLocks noChangeAspect="1"/>
          </p:cNvPicPr>
          <p:nvPr/>
        </p:nvPicPr>
        <p:blipFill>
          <a:blip r:embed="rId4"/>
          <a:stretch>
            <a:fillRect/>
          </a:stretch>
        </p:blipFill>
        <p:spPr>
          <a:xfrm>
            <a:off x="6741482" y="3966519"/>
            <a:ext cx="5450518" cy="2891481"/>
          </a:xfrm>
          <a:prstGeom prst="rect">
            <a:avLst/>
          </a:prstGeom>
        </p:spPr>
      </p:pic>
    </p:spTree>
    <p:extLst>
      <p:ext uri="{BB962C8B-B14F-4D97-AF65-F5344CB8AC3E}">
        <p14:creationId xmlns:p14="http://schemas.microsoft.com/office/powerpoint/2010/main" val="32340935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D4AA444A-1F10-6A1B-2E7A-B0E8FE605C18}"/>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946945E-39B5-96A5-6E00-540A2005004A}"/>
              </a:ext>
            </a:extLst>
          </p:cNvPr>
          <p:cNvSpPr txBox="1"/>
          <p:nvPr/>
        </p:nvSpPr>
        <p:spPr>
          <a:xfrm>
            <a:off x="4315690" y="41564"/>
            <a:ext cx="3560619" cy="461665"/>
          </a:xfrm>
          <a:prstGeom prst="rect">
            <a:avLst/>
          </a:prstGeom>
          <a:noFill/>
        </p:spPr>
        <p:txBody>
          <a:bodyPr wrap="square">
            <a:spAutoFit/>
          </a:bodyPr>
          <a:lstStyle/>
          <a:p>
            <a:r>
              <a:rPr lang="fr-FR" sz="2400" b="1" u="sng" dirty="0"/>
              <a:t>FEATURE ENGINEERING</a:t>
            </a:r>
          </a:p>
        </p:txBody>
      </p:sp>
      <p:sp>
        <p:nvSpPr>
          <p:cNvPr id="3" name="ZoneTexte 2">
            <a:extLst>
              <a:ext uri="{FF2B5EF4-FFF2-40B4-BE49-F238E27FC236}">
                <a16:creationId xmlns:a16="http://schemas.microsoft.com/office/drawing/2014/main" id="{1CF496DC-FEC3-C590-56C9-A381E003243F}"/>
              </a:ext>
            </a:extLst>
          </p:cNvPr>
          <p:cNvSpPr txBox="1"/>
          <p:nvPr/>
        </p:nvSpPr>
        <p:spPr>
          <a:xfrm>
            <a:off x="-1" y="503229"/>
            <a:ext cx="6096000" cy="400110"/>
          </a:xfrm>
          <a:prstGeom prst="rect">
            <a:avLst/>
          </a:prstGeom>
          <a:noFill/>
        </p:spPr>
        <p:txBody>
          <a:bodyPr wrap="square">
            <a:spAutoFit/>
          </a:bodyPr>
          <a:lstStyle/>
          <a:p>
            <a:r>
              <a:rPr lang="fr-FR" sz="2000" b="1" dirty="0"/>
              <a:t>Sélection &amp; transformation des variables</a:t>
            </a:r>
          </a:p>
        </p:txBody>
      </p:sp>
      <p:sp>
        <p:nvSpPr>
          <p:cNvPr id="6" name="ZoneTexte 5">
            <a:extLst>
              <a:ext uri="{FF2B5EF4-FFF2-40B4-BE49-F238E27FC236}">
                <a16:creationId xmlns:a16="http://schemas.microsoft.com/office/drawing/2014/main" id="{58708FD6-62F8-32A0-C25D-5613D85279BE}"/>
              </a:ext>
            </a:extLst>
          </p:cNvPr>
          <p:cNvSpPr txBox="1"/>
          <p:nvPr/>
        </p:nvSpPr>
        <p:spPr>
          <a:xfrm>
            <a:off x="-34638" y="936947"/>
            <a:ext cx="10649092" cy="1323439"/>
          </a:xfrm>
          <a:prstGeom prst="rect">
            <a:avLst/>
          </a:prstGeom>
          <a:noFill/>
        </p:spPr>
        <p:txBody>
          <a:bodyPr wrap="square">
            <a:spAutoFit/>
          </a:bodyPr>
          <a:lstStyle/>
          <a:p>
            <a:r>
              <a:rPr lang="fr-FR" sz="2000" b="1" dirty="0"/>
              <a:t>Analyse</a:t>
            </a:r>
          </a:p>
          <a:p>
            <a:r>
              <a:rPr lang="fr-FR" sz="2000" dirty="0"/>
              <a:t>Analyse des corrélations entre variables via </a:t>
            </a:r>
            <a:r>
              <a:rPr lang="fr-FR" sz="2000" dirty="0" err="1"/>
              <a:t>heatmap</a:t>
            </a:r>
            <a:endParaRPr lang="fr-FR" sz="2000" dirty="0"/>
          </a:p>
          <a:p>
            <a:r>
              <a:rPr lang="fr-FR" sz="2000" dirty="0"/>
              <a:t>Identification de groupes de variables fortement corrélées entre elles</a:t>
            </a:r>
          </a:p>
          <a:p>
            <a:r>
              <a:rPr lang="fr-FR" sz="2000" dirty="0"/>
              <a:t>Détection de variables très fortement liées à la variable cible</a:t>
            </a:r>
          </a:p>
        </p:txBody>
      </p:sp>
      <p:sp>
        <p:nvSpPr>
          <p:cNvPr id="8" name="ZoneTexte 7">
            <a:extLst>
              <a:ext uri="{FF2B5EF4-FFF2-40B4-BE49-F238E27FC236}">
                <a16:creationId xmlns:a16="http://schemas.microsoft.com/office/drawing/2014/main" id="{2FD10B6B-91E0-A6ED-EBB1-8FB349D1D6DD}"/>
              </a:ext>
            </a:extLst>
          </p:cNvPr>
          <p:cNvSpPr txBox="1"/>
          <p:nvPr/>
        </p:nvSpPr>
        <p:spPr>
          <a:xfrm>
            <a:off x="-34638" y="2391908"/>
            <a:ext cx="6615547" cy="2554545"/>
          </a:xfrm>
          <a:prstGeom prst="rect">
            <a:avLst/>
          </a:prstGeom>
          <a:noFill/>
        </p:spPr>
        <p:txBody>
          <a:bodyPr wrap="square">
            <a:spAutoFit/>
          </a:bodyPr>
          <a:lstStyle/>
          <a:p>
            <a:r>
              <a:rPr lang="fr-FR" sz="2000" b="1" dirty="0"/>
              <a:t>Décisions</a:t>
            </a:r>
          </a:p>
          <a:p>
            <a:r>
              <a:rPr lang="fr-FR" sz="2000" dirty="0"/>
              <a:t>Suppression des variables redondantes afin de limiter la multicolinéarité</a:t>
            </a:r>
          </a:p>
          <a:p>
            <a:r>
              <a:rPr lang="fr-FR" sz="2000" dirty="0"/>
              <a:t>Conservation d’une seule variable représentative par groupe corrélé</a:t>
            </a:r>
          </a:p>
          <a:p>
            <a:r>
              <a:rPr lang="fr-FR" sz="2000" dirty="0"/>
              <a:t>Suppression des variables directement liées ou dérivées de la consommation énergétique</a:t>
            </a:r>
            <a:br>
              <a:rPr lang="fr-FR" sz="2000" dirty="0"/>
            </a:br>
            <a:r>
              <a:rPr lang="fr-FR" sz="2000" i="1" dirty="0"/>
              <a:t>(prévention des fuites de données)</a:t>
            </a:r>
            <a:endParaRPr lang="fr-FR" sz="2000" dirty="0"/>
          </a:p>
        </p:txBody>
      </p:sp>
      <p:sp>
        <p:nvSpPr>
          <p:cNvPr id="10" name="ZoneTexte 9">
            <a:extLst>
              <a:ext uri="{FF2B5EF4-FFF2-40B4-BE49-F238E27FC236}">
                <a16:creationId xmlns:a16="http://schemas.microsoft.com/office/drawing/2014/main" id="{52B1355B-0B41-E174-C429-C54EB9F5D846}"/>
              </a:ext>
            </a:extLst>
          </p:cNvPr>
          <p:cNvSpPr txBox="1"/>
          <p:nvPr/>
        </p:nvSpPr>
        <p:spPr>
          <a:xfrm>
            <a:off x="0" y="5077975"/>
            <a:ext cx="6144490" cy="1631216"/>
          </a:xfrm>
          <a:prstGeom prst="rect">
            <a:avLst/>
          </a:prstGeom>
          <a:noFill/>
        </p:spPr>
        <p:txBody>
          <a:bodyPr wrap="square">
            <a:spAutoFit/>
          </a:bodyPr>
          <a:lstStyle/>
          <a:p>
            <a:pPr>
              <a:buNone/>
            </a:pPr>
            <a:r>
              <a:rPr lang="fr-FR" sz="2000" b="1" dirty="0"/>
              <a:t>Résultat</a:t>
            </a:r>
          </a:p>
          <a:p>
            <a:pPr>
              <a:buFont typeface="Arial" panose="020B0604020202020204" pitchFamily="34" charset="0"/>
              <a:buChar char="•"/>
            </a:pPr>
            <a:r>
              <a:rPr lang="fr-FR" sz="2000" dirty="0"/>
              <a:t>Jeu de données :</a:t>
            </a:r>
          </a:p>
          <a:p>
            <a:pPr marL="742950" lvl="1" indent="-285750">
              <a:buFont typeface="Arial" panose="020B0604020202020204" pitchFamily="34" charset="0"/>
              <a:buChar char="•"/>
            </a:pPr>
            <a:r>
              <a:rPr lang="fr-FR" sz="2000" dirty="0"/>
              <a:t>plus stable</a:t>
            </a:r>
          </a:p>
          <a:p>
            <a:pPr marL="742950" lvl="1" indent="-285750">
              <a:buFont typeface="Arial" panose="020B0604020202020204" pitchFamily="34" charset="0"/>
              <a:buChar char="•"/>
            </a:pPr>
            <a:r>
              <a:rPr lang="fr-FR" sz="2000" dirty="0"/>
              <a:t>sans fuite d’information</a:t>
            </a:r>
          </a:p>
          <a:p>
            <a:pPr marL="742950" lvl="1" indent="-285750">
              <a:buFont typeface="Arial" panose="020B0604020202020204" pitchFamily="34" charset="0"/>
              <a:buChar char="•"/>
            </a:pPr>
            <a:r>
              <a:rPr lang="fr-FR" sz="2000" dirty="0"/>
              <a:t> modèles supervisés</a:t>
            </a:r>
          </a:p>
        </p:txBody>
      </p:sp>
      <p:pic>
        <p:nvPicPr>
          <p:cNvPr id="12" name="Image 11" descr="Une image contenant capture d’écran, texte, motif, carré&#10;&#10;Le contenu généré par l’IA peut être incorrect.">
            <a:extLst>
              <a:ext uri="{FF2B5EF4-FFF2-40B4-BE49-F238E27FC236}">
                <a16:creationId xmlns:a16="http://schemas.microsoft.com/office/drawing/2014/main" id="{05E9462E-0432-9D25-B261-E9B005ED9205}"/>
              </a:ext>
            </a:extLst>
          </p:cNvPr>
          <p:cNvPicPr>
            <a:picLocks noChangeAspect="1"/>
          </p:cNvPicPr>
          <p:nvPr/>
        </p:nvPicPr>
        <p:blipFill>
          <a:blip r:embed="rId3"/>
          <a:stretch>
            <a:fillRect/>
          </a:stretch>
        </p:blipFill>
        <p:spPr>
          <a:xfrm>
            <a:off x="6436271" y="2694104"/>
            <a:ext cx="5755730" cy="4163896"/>
          </a:xfrm>
          <a:prstGeom prst="rect">
            <a:avLst/>
          </a:prstGeom>
        </p:spPr>
      </p:pic>
    </p:spTree>
    <p:extLst>
      <p:ext uri="{BB962C8B-B14F-4D97-AF65-F5344CB8AC3E}">
        <p14:creationId xmlns:p14="http://schemas.microsoft.com/office/powerpoint/2010/main" val="37863160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3D5021CB-5A70-070C-C812-1F546B2DA211}"/>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FEFA521-5FD5-A3E7-C332-1E9A13B62C88}"/>
              </a:ext>
            </a:extLst>
          </p:cNvPr>
          <p:cNvSpPr txBox="1"/>
          <p:nvPr/>
        </p:nvSpPr>
        <p:spPr>
          <a:xfrm>
            <a:off x="2497610" y="12357"/>
            <a:ext cx="7196780" cy="461665"/>
          </a:xfrm>
          <a:prstGeom prst="rect">
            <a:avLst/>
          </a:prstGeom>
          <a:noFill/>
        </p:spPr>
        <p:txBody>
          <a:bodyPr wrap="square">
            <a:spAutoFit/>
          </a:bodyPr>
          <a:lstStyle/>
          <a:p>
            <a:r>
              <a:rPr kumimoji="0" lang="fr-FR" altLang="fr-FR" sz="2400" b="1" i="0" u="sng" strike="noStrike" cap="none" normalizeH="0" baseline="0" dirty="0">
                <a:ln>
                  <a:noFill/>
                </a:ln>
                <a:solidFill>
                  <a:schemeClr val="tx1"/>
                </a:solidFill>
                <a:effectLst/>
                <a:latin typeface="Arial" panose="020B0604020202020204" pitchFamily="34" charset="0"/>
              </a:rPr>
              <a:t>Préparation des données &amp; </a:t>
            </a:r>
            <a:r>
              <a:rPr kumimoji="0" lang="fr-FR" altLang="fr-FR" sz="2400" b="1" i="0" u="sng" strike="noStrike" cap="none" normalizeH="0" baseline="0" dirty="0" err="1">
                <a:ln>
                  <a:noFill/>
                </a:ln>
                <a:solidFill>
                  <a:schemeClr val="tx1"/>
                </a:solidFill>
                <a:effectLst/>
                <a:latin typeface="Arial" panose="020B0604020202020204" pitchFamily="34" charset="0"/>
              </a:rPr>
              <a:t>feature</a:t>
            </a:r>
            <a:r>
              <a:rPr kumimoji="0" lang="fr-FR" altLang="fr-FR" sz="2400" b="1" i="0" u="sng" strike="noStrike" cap="none" normalizeH="0" baseline="0" dirty="0">
                <a:ln>
                  <a:noFill/>
                </a:ln>
                <a:solidFill>
                  <a:schemeClr val="tx1"/>
                </a:solidFill>
                <a:effectLst/>
                <a:latin typeface="Arial" panose="020B0604020202020204" pitchFamily="34" charset="0"/>
              </a:rPr>
              <a:t> engineering</a:t>
            </a:r>
            <a:endParaRPr lang="fr-FR" sz="2400" b="1" u="sng" dirty="0"/>
          </a:p>
        </p:txBody>
      </p:sp>
      <p:sp>
        <p:nvSpPr>
          <p:cNvPr id="7" name="ZoneTexte 6">
            <a:extLst>
              <a:ext uri="{FF2B5EF4-FFF2-40B4-BE49-F238E27FC236}">
                <a16:creationId xmlns:a16="http://schemas.microsoft.com/office/drawing/2014/main" id="{F447E26B-FE66-3F98-F19C-21E5D373EB46}"/>
              </a:ext>
            </a:extLst>
          </p:cNvPr>
          <p:cNvSpPr txBox="1"/>
          <p:nvPr/>
        </p:nvSpPr>
        <p:spPr>
          <a:xfrm>
            <a:off x="0" y="633613"/>
            <a:ext cx="7636476" cy="2554545"/>
          </a:xfrm>
          <a:prstGeom prst="rect">
            <a:avLst/>
          </a:prstGeom>
          <a:noFill/>
        </p:spPr>
        <p:txBody>
          <a:bodyPr wrap="square">
            <a:spAutoFit/>
          </a:bodyPr>
          <a:lstStyle/>
          <a:p>
            <a:r>
              <a:rPr lang="fr-FR" sz="2000" b="1" dirty="0"/>
              <a:t>Analyse</a:t>
            </a:r>
          </a:p>
          <a:p>
            <a:r>
              <a:rPr lang="fr-FR" sz="2000" dirty="0"/>
              <a:t>Analyse des variables numériques une par une afin d’évaluer :</a:t>
            </a:r>
          </a:p>
          <a:p>
            <a:pPr lvl="1"/>
            <a:r>
              <a:rPr lang="fr-FR" sz="2000" dirty="0"/>
              <a:t>leur variabilité réelle</a:t>
            </a:r>
          </a:p>
          <a:p>
            <a:pPr lvl="1"/>
            <a:r>
              <a:rPr lang="fr-FR" sz="2000" dirty="0"/>
              <a:t>leur capacité à expliquer la consommation énergétique</a:t>
            </a:r>
          </a:p>
          <a:p>
            <a:r>
              <a:rPr lang="fr-FR" sz="2000" dirty="0"/>
              <a:t>Identification de variables :</a:t>
            </a:r>
          </a:p>
          <a:p>
            <a:pPr lvl="1"/>
            <a:r>
              <a:rPr lang="fr-FR" sz="2000" dirty="0"/>
              <a:t>à variance quasi nulle</a:t>
            </a:r>
          </a:p>
          <a:p>
            <a:pPr lvl="1"/>
            <a:r>
              <a:rPr lang="fr-FR" sz="2000" dirty="0"/>
              <a:t>purement administratives ou descriptives</a:t>
            </a:r>
          </a:p>
          <a:p>
            <a:pPr lvl="1"/>
            <a:r>
              <a:rPr lang="fr-FR" sz="2000" dirty="0"/>
              <a:t>apportant peu ou aucune information utile pour le modèle</a:t>
            </a:r>
          </a:p>
        </p:txBody>
      </p:sp>
      <p:sp>
        <p:nvSpPr>
          <p:cNvPr id="9" name="ZoneTexte 8">
            <a:extLst>
              <a:ext uri="{FF2B5EF4-FFF2-40B4-BE49-F238E27FC236}">
                <a16:creationId xmlns:a16="http://schemas.microsoft.com/office/drawing/2014/main" id="{EAFED727-399C-C9AB-C36A-E718A57F5963}"/>
              </a:ext>
            </a:extLst>
          </p:cNvPr>
          <p:cNvSpPr txBox="1"/>
          <p:nvPr/>
        </p:nvSpPr>
        <p:spPr>
          <a:xfrm>
            <a:off x="0" y="3669843"/>
            <a:ext cx="11970609" cy="2246769"/>
          </a:xfrm>
          <a:prstGeom prst="rect">
            <a:avLst/>
          </a:prstGeom>
          <a:noFill/>
        </p:spPr>
        <p:txBody>
          <a:bodyPr wrap="square">
            <a:spAutoFit/>
          </a:bodyPr>
          <a:lstStyle/>
          <a:p>
            <a:pPr>
              <a:buNone/>
            </a:pPr>
            <a:r>
              <a:rPr lang="fr-FR" sz="2000" b="1" dirty="0"/>
              <a:t>Décisions</a:t>
            </a:r>
          </a:p>
          <a:p>
            <a:pPr>
              <a:buFont typeface="Arial" panose="020B0604020202020204" pitchFamily="34" charset="0"/>
              <a:buChar char="•"/>
            </a:pPr>
            <a:r>
              <a:rPr lang="fr-FR" sz="2000" dirty="0"/>
              <a:t>Suppression des variables peu pertinentes pour la modélisation, notamment :</a:t>
            </a:r>
          </a:p>
          <a:p>
            <a:pPr marL="742950" lvl="1" indent="-285750">
              <a:buFont typeface="Arial" panose="020B0604020202020204" pitchFamily="34" charset="0"/>
              <a:buChar char="•"/>
            </a:pPr>
            <a:r>
              <a:rPr lang="fr-FR" sz="2000" dirty="0"/>
              <a:t>variables administratives sans pouvoir explicatif</a:t>
            </a:r>
            <a:br>
              <a:rPr lang="fr-FR" sz="2000" dirty="0"/>
            </a:br>
            <a:r>
              <a:rPr lang="fr-FR" sz="2000" dirty="0"/>
              <a:t>(</a:t>
            </a:r>
            <a:r>
              <a:rPr lang="fr-FR" dirty="0"/>
              <a:t>DataYear</a:t>
            </a:r>
            <a:r>
              <a:rPr lang="fr-FR" sz="2000" dirty="0"/>
              <a:t>, </a:t>
            </a:r>
            <a:r>
              <a:rPr lang="fr-FR" dirty="0"/>
              <a:t>HasSteam</a:t>
            </a:r>
            <a:r>
              <a:rPr lang="fr-FR" sz="2000" dirty="0"/>
              <a:t>, </a:t>
            </a:r>
            <a:r>
              <a:rPr lang="fr-FR" dirty="0"/>
              <a:t>HasElectricity , </a:t>
            </a:r>
            <a:r>
              <a:rPr lang="fr-FR" dirty="0" err="1"/>
              <a:t>NumberOfBuildings</a:t>
            </a:r>
            <a:r>
              <a:rPr lang="fr-FR" sz="2000" dirty="0"/>
              <a:t>)</a:t>
            </a:r>
          </a:p>
          <a:p>
            <a:pPr marL="742950" lvl="1" indent="-285750">
              <a:buFont typeface="Arial" panose="020B0604020202020204" pitchFamily="34" charset="0"/>
              <a:buChar char="•"/>
            </a:pPr>
            <a:r>
              <a:rPr lang="fr-FR" sz="2000" dirty="0"/>
              <a:t>variables non informatives pour la prédiction une fois les autres caractéristiques prises en compte</a:t>
            </a:r>
          </a:p>
          <a:p>
            <a:pPr>
              <a:buFont typeface="Arial" panose="020B0604020202020204" pitchFamily="34" charset="0"/>
              <a:buChar char="•"/>
            </a:pPr>
            <a:r>
              <a:rPr lang="fr-FR" sz="2000" dirty="0"/>
              <a:t>Objectif : simplifier le jeu de données et conserver uniquement les variables réellement porteuses d’information</a:t>
            </a:r>
          </a:p>
        </p:txBody>
      </p:sp>
      <p:pic>
        <p:nvPicPr>
          <p:cNvPr id="11" name="Image 10" descr="Une image contenant texte, capture d’écran, ligne, nombre&#10;&#10;Le contenu généré par l’IA peut être incorrect.">
            <a:extLst>
              <a:ext uri="{FF2B5EF4-FFF2-40B4-BE49-F238E27FC236}">
                <a16:creationId xmlns:a16="http://schemas.microsoft.com/office/drawing/2014/main" id="{EA094A15-72D4-222F-F6D3-B5E799C6CB93}"/>
              </a:ext>
            </a:extLst>
          </p:cNvPr>
          <p:cNvPicPr>
            <a:picLocks noChangeAspect="1"/>
          </p:cNvPicPr>
          <p:nvPr/>
        </p:nvPicPr>
        <p:blipFill>
          <a:blip r:embed="rId3"/>
          <a:stretch>
            <a:fillRect/>
          </a:stretch>
        </p:blipFill>
        <p:spPr>
          <a:xfrm>
            <a:off x="8186394" y="372534"/>
            <a:ext cx="4005606" cy="1724169"/>
          </a:xfrm>
          <a:prstGeom prst="rect">
            <a:avLst/>
          </a:prstGeom>
        </p:spPr>
      </p:pic>
      <p:pic>
        <p:nvPicPr>
          <p:cNvPr id="13" name="Image 12" descr="Une image contenant capture d’écran, ligne, Tracé, texte&#10;&#10;Le contenu généré par l’IA peut être incorrect.">
            <a:extLst>
              <a:ext uri="{FF2B5EF4-FFF2-40B4-BE49-F238E27FC236}">
                <a16:creationId xmlns:a16="http://schemas.microsoft.com/office/drawing/2014/main" id="{546D6CF2-1C93-095A-0ABD-5108380D165C}"/>
              </a:ext>
            </a:extLst>
          </p:cNvPr>
          <p:cNvPicPr>
            <a:picLocks noChangeAspect="1"/>
          </p:cNvPicPr>
          <p:nvPr/>
        </p:nvPicPr>
        <p:blipFill>
          <a:blip r:embed="rId4"/>
          <a:stretch>
            <a:fillRect/>
          </a:stretch>
        </p:blipFill>
        <p:spPr>
          <a:xfrm>
            <a:off x="8186394" y="2096703"/>
            <a:ext cx="4005606" cy="1986251"/>
          </a:xfrm>
          <a:prstGeom prst="rect">
            <a:avLst/>
          </a:prstGeom>
        </p:spPr>
      </p:pic>
    </p:spTree>
    <p:extLst>
      <p:ext uri="{BB962C8B-B14F-4D97-AF65-F5344CB8AC3E}">
        <p14:creationId xmlns:p14="http://schemas.microsoft.com/office/powerpoint/2010/main" val="39530879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BE64A98D-1842-B435-7AAF-A9B01BE4E04B}"/>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35826CAF-9770-AF42-BC5C-FB93F61E9CAA}"/>
              </a:ext>
            </a:extLst>
          </p:cNvPr>
          <p:cNvSpPr txBox="1"/>
          <p:nvPr/>
        </p:nvSpPr>
        <p:spPr>
          <a:xfrm>
            <a:off x="2497610" y="12357"/>
            <a:ext cx="7196780" cy="461665"/>
          </a:xfrm>
          <a:prstGeom prst="rect">
            <a:avLst/>
          </a:prstGeom>
          <a:noFill/>
        </p:spPr>
        <p:txBody>
          <a:bodyPr wrap="square">
            <a:spAutoFit/>
          </a:bodyPr>
          <a:lstStyle/>
          <a:p>
            <a:r>
              <a:rPr kumimoji="0" lang="fr-FR" altLang="fr-FR" sz="2400" b="1" i="0" u="sng" strike="noStrike" cap="none" normalizeH="0" baseline="0" dirty="0">
                <a:ln>
                  <a:noFill/>
                </a:ln>
                <a:solidFill>
                  <a:schemeClr val="tx1"/>
                </a:solidFill>
                <a:effectLst/>
                <a:latin typeface="Arial" panose="020B0604020202020204" pitchFamily="34" charset="0"/>
              </a:rPr>
              <a:t>Préparation des données &amp; </a:t>
            </a:r>
            <a:r>
              <a:rPr kumimoji="0" lang="fr-FR" altLang="fr-FR" sz="2400" b="1" i="0" u="sng" strike="noStrike" cap="none" normalizeH="0" baseline="0" dirty="0" err="1">
                <a:ln>
                  <a:noFill/>
                </a:ln>
                <a:solidFill>
                  <a:schemeClr val="tx1"/>
                </a:solidFill>
                <a:effectLst/>
                <a:latin typeface="Arial" panose="020B0604020202020204" pitchFamily="34" charset="0"/>
              </a:rPr>
              <a:t>feature</a:t>
            </a:r>
            <a:r>
              <a:rPr kumimoji="0" lang="fr-FR" altLang="fr-FR" sz="2400" b="1" i="0" u="sng" strike="noStrike" cap="none" normalizeH="0" baseline="0" dirty="0">
                <a:ln>
                  <a:noFill/>
                </a:ln>
                <a:solidFill>
                  <a:schemeClr val="tx1"/>
                </a:solidFill>
                <a:effectLst/>
                <a:latin typeface="Arial" panose="020B0604020202020204" pitchFamily="34" charset="0"/>
              </a:rPr>
              <a:t> engineering</a:t>
            </a:r>
            <a:endParaRPr lang="fr-FR" sz="2400" b="1" u="sng" dirty="0"/>
          </a:p>
        </p:txBody>
      </p:sp>
      <p:sp>
        <p:nvSpPr>
          <p:cNvPr id="3" name="ZoneTexte 2">
            <a:extLst>
              <a:ext uri="{FF2B5EF4-FFF2-40B4-BE49-F238E27FC236}">
                <a16:creationId xmlns:a16="http://schemas.microsoft.com/office/drawing/2014/main" id="{9C978034-A1FF-1D09-41A3-2E6661799434}"/>
              </a:ext>
            </a:extLst>
          </p:cNvPr>
          <p:cNvSpPr txBox="1"/>
          <p:nvPr/>
        </p:nvSpPr>
        <p:spPr>
          <a:xfrm>
            <a:off x="101600" y="898224"/>
            <a:ext cx="6987822" cy="1631216"/>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Présence de :</a:t>
            </a:r>
          </a:p>
          <a:p>
            <a:pPr marL="742950" lvl="1" indent="-285750">
              <a:buFont typeface="Arial" panose="020B0604020202020204" pitchFamily="34" charset="0"/>
              <a:buChar char="•"/>
            </a:pPr>
            <a:r>
              <a:rPr lang="fr-FR" sz="2000" dirty="0"/>
              <a:t>variables de surface très dispersées</a:t>
            </a:r>
          </a:p>
          <a:p>
            <a:pPr marL="742950" lvl="1" indent="-285750">
              <a:buFont typeface="Arial" panose="020B0604020202020204" pitchFamily="34" charset="0"/>
              <a:buChar char="•"/>
            </a:pPr>
            <a:r>
              <a:rPr lang="fr-FR" sz="2000" dirty="0"/>
              <a:t>effets d’échelle importants</a:t>
            </a:r>
          </a:p>
          <a:p>
            <a:pPr marL="742950" lvl="1" indent="-285750">
              <a:buFont typeface="Arial" panose="020B0604020202020204" pitchFamily="34" charset="0"/>
              <a:buChar char="•"/>
            </a:pPr>
            <a:r>
              <a:rPr lang="fr-FR" sz="2000" dirty="0"/>
              <a:t>valeurs extrêmes impactant les modèles linéaires</a:t>
            </a:r>
          </a:p>
        </p:txBody>
      </p:sp>
      <p:sp>
        <p:nvSpPr>
          <p:cNvPr id="6" name="ZoneTexte 5">
            <a:extLst>
              <a:ext uri="{FF2B5EF4-FFF2-40B4-BE49-F238E27FC236}">
                <a16:creationId xmlns:a16="http://schemas.microsoft.com/office/drawing/2014/main" id="{8408471A-FB4E-BC8C-CFA8-1492D5EABB28}"/>
              </a:ext>
            </a:extLst>
          </p:cNvPr>
          <p:cNvSpPr txBox="1"/>
          <p:nvPr/>
        </p:nvSpPr>
        <p:spPr>
          <a:xfrm>
            <a:off x="101600" y="3291469"/>
            <a:ext cx="8274756" cy="1631216"/>
          </a:xfrm>
          <a:prstGeom prst="rect">
            <a:avLst/>
          </a:prstGeom>
          <a:noFill/>
        </p:spPr>
        <p:txBody>
          <a:bodyPr wrap="square">
            <a:spAutoFit/>
          </a:bodyPr>
          <a:lstStyle/>
          <a:p>
            <a:pPr>
              <a:buNone/>
            </a:pPr>
            <a:r>
              <a:rPr lang="fr-FR" sz="2000" b="1" dirty="0"/>
              <a:t>Décisions</a:t>
            </a:r>
          </a:p>
          <a:p>
            <a:pPr>
              <a:buNone/>
            </a:pPr>
            <a:r>
              <a:rPr lang="fr-FR" sz="2000" dirty="0"/>
              <a:t>Création de variables plus </a:t>
            </a:r>
            <a:r>
              <a:rPr lang="fr-FR" sz="2000" b="1" dirty="0"/>
              <a:t>stables et interprétables</a:t>
            </a:r>
            <a:r>
              <a:rPr lang="fr-FR" sz="2000" dirty="0"/>
              <a:t> :</a:t>
            </a:r>
          </a:p>
          <a:p>
            <a:pPr>
              <a:buFont typeface="Arial" panose="020B0604020202020204" pitchFamily="34" charset="0"/>
              <a:buChar char="•"/>
            </a:pPr>
            <a:r>
              <a:rPr lang="fr-FR" sz="2000" dirty="0">
                <a:latin typeface="Courier New" panose="02070309020205020404" pitchFamily="49" charset="0"/>
              </a:rPr>
              <a:t>BuildingAge</a:t>
            </a:r>
            <a:r>
              <a:rPr lang="fr-FR" sz="2000" dirty="0"/>
              <a:t> = 2016 − </a:t>
            </a:r>
            <a:r>
              <a:rPr lang="fr-FR" sz="2000" dirty="0">
                <a:latin typeface="Courier New" panose="02070309020205020404" pitchFamily="49" charset="0"/>
              </a:rPr>
              <a:t>YearBuilt</a:t>
            </a:r>
            <a:endParaRPr lang="fr-FR" sz="2000" dirty="0"/>
          </a:p>
          <a:p>
            <a:pPr>
              <a:buFont typeface="Arial" panose="020B0604020202020204" pitchFamily="34" charset="0"/>
              <a:buChar char="•"/>
            </a:pPr>
            <a:r>
              <a:rPr lang="fr-FR" sz="2000" dirty="0">
                <a:latin typeface="Courier New" panose="02070309020205020404" pitchFamily="49" charset="0"/>
              </a:rPr>
              <a:t>Log_PropertyGFATotal</a:t>
            </a:r>
            <a:r>
              <a:rPr lang="fr-FR" sz="2000" dirty="0"/>
              <a:t> → réduction de l’asymétrie</a:t>
            </a:r>
          </a:p>
          <a:p>
            <a:pPr>
              <a:buFont typeface="Arial" panose="020B0604020202020204" pitchFamily="34" charset="0"/>
              <a:buChar char="•"/>
            </a:pPr>
            <a:r>
              <a:rPr lang="fr-FR" sz="2000" dirty="0">
                <a:latin typeface="Courier New" panose="02070309020205020404" pitchFamily="49" charset="0"/>
              </a:rPr>
              <a:t>GFA_per_Floor</a:t>
            </a:r>
            <a:r>
              <a:rPr lang="fr-FR" sz="2000" dirty="0"/>
              <a:t> → proxy de la </a:t>
            </a:r>
            <a:r>
              <a:rPr lang="fr-FR" sz="2000" b="1" dirty="0"/>
              <a:t>forme du bâtiment</a:t>
            </a:r>
            <a:endParaRPr lang="fr-FR" sz="2000" dirty="0"/>
          </a:p>
        </p:txBody>
      </p:sp>
    </p:spTree>
    <p:extLst>
      <p:ext uri="{BB962C8B-B14F-4D97-AF65-F5344CB8AC3E}">
        <p14:creationId xmlns:p14="http://schemas.microsoft.com/office/powerpoint/2010/main" val="37632600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6A4A81DE-8267-F0D8-DBFE-35853536D4C7}"/>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FF551D8-BC35-A384-2F8F-56A9B854DCDB}"/>
              </a:ext>
            </a:extLst>
          </p:cNvPr>
          <p:cNvSpPr txBox="1"/>
          <p:nvPr/>
        </p:nvSpPr>
        <p:spPr>
          <a:xfrm>
            <a:off x="2497610" y="12357"/>
            <a:ext cx="7196780" cy="461665"/>
          </a:xfrm>
          <a:prstGeom prst="rect">
            <a:avLst/>
          </a:prstGeom>
          <a:noFill/>
        </p:spPr>
        <p:txBody>
          <a:bodyPr wrap="square">
            <a:spAutoFit/>
          </a:bodyPr>
          <a:lstStyle/>
          <a:p>
            <a:r>
              <a:rPr kumimoji="0" lang="fr-FR" altLang="fr-FR" sz="2400" b="1" i="0" u="sng" strike="noStrike" cap="none" normalizeH="0" baseline="0" dirty="0">
                <a:ln>
                  <a:noFill/>
                </a:ln>
                <a:solidFill>
                  <a:schemeClr val="tx1"/>
                </a:solidFill>
                <a:effectLst/>
                <a:latin typeface="Arial" panose="020B0604020202020204" pitchFamily="34" charset="0"/>
              </a:rPr>
              <a:t>Préparation des données &amp; </a:t>
            </a:r>
            <a:r>
              <a:rPr kumimoji="0" lang="fr-FR" altLang="fr-FR" sz="2400" b="1" i="0" u="sng" strike="noStrike" cap="none" normalizeH="0" baseline="0" dirty="0" err="1">
                <a:ln>
                  <a:noFill/>
                </a:ln>
                <a:solidFill>
                  <a:schemeClr val="tx1"/>
                </a:solidFill>
                <a:effectLst/>
                <a:latin typeface="Arial" panose="020B0604020202020204" pitchFamily="34" charset="0"/>
              </a:rPr>
              <a:t>feature</a:t>
            </a:r>
            <a:r>
              <a:rPr kumimoji="0" lang="fr-FR" altLang="fr-FR" sz="2400" b="1" i="0" u="sng" strike="noStrike" cap="none" normalizeH="0" baseline="0" dirty="0">
                <a:ln>
                  <a:noFill/>
                </a:ln>
                <a:solidFill>
                  <a:schemeClr val="tx1"/>
                </a:solidFill>
                <a:effectLst/>
                <a:latin typeface="Arial" panose="020B0604020202020204" pitchFamily="34" charset="0"/>
              </a:rPr>
              <a:t> engineering</a:t>
            </a:r>
            <a:endParaRPr lang="fr-FR" sz="2400" b="1" u="sng" dirty="0"/>
          </a:p>
        </p:txBody>
      </p:sp>
      <p:sp>
        <p:nvSpPr>
          <p:cNvPr id="3" name="ZoneTexte 2">
            <a:extLst>
              <a:ext uri="{FF2B5EF4-FFF2-40B4-BE49-F238E27FC236}">
                <a16:creationId xmlns:a16="http://schemas.microsoft.com/office/drawing/2014/main" id="{5D778D64-BAE5-666A-BFB6-888D400ACE67}"/>
              </a:ext>
            </a:extLst>
          </p:cNvPr>
          <p:cNvSpPr txBox="1"/>
          <p:nvPr/>
        </p:nvSpPr>
        <p:spPr>
          <a:xfrm>
            <a:off x="0" y="620131"/>
            <a:ext cx="7597422" cy="400110"/>
          </a:xfrm>
          <a:prstGeom prst="rect">
            <a:avLst/>
          </a:prstGeom>
          <a:noFill/>
        </p:spPr>
        <p:txBody>
          <a:bodyPr wrap="square">
            <a:spAutoFit/>
          </a:bodyPr>
          <a:lstStyle/>
          <a:p>
            <a:r>
              <a:rPr lang="fr-FR" sz="2000" b="1" dirty="0"/>
              <a:t>Sélection finale des variables (ANOVA + </a:t>
            </a:r>
            <a:r>
              <a:rPr lang="fr-FR" sz="2000" b="1" dirty="0" err="1"/>
              <a:t>Random</a:t>
            </a:r>
            <a:r>
              <a:rPr lang="fr-FR" sz="2000" b="1" dirty="0"/>
              <a:t> Forest)</a:t>
            </a:r>
          </a:p>
        </p:txBody>
      </p:sp>
      <p:sp>
        <p:nvSpPr>
          <p:cNvPr id="6" name="ZoneTexte 5">
            <a:extLst>
              <a:ext uri="{FF2B5EF4-FFF2-40B4-BE49-F238E27FC236}">
                <a16:creationId xmlns:a16="http://schemas.microsoft.com/office/drawing/2014/main" id="{1305C53F-A4F9-9E7B-F187-4D6205E0BDA8}"/>
              </a:ext>
            </a:extLst>
          </p:cNvPr>
          <p:cNvSpPr txBox="1"/>
          <p:nvPr/>
        </p:nvSpPr>
        <p:spPr>
          <a:xfrm>
            <a:off x="0" y="1166350"/>
            <a:ext cx="8861778" cy="1938992"/>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ANOVA (</a:t>
            </a:r>
            <a:r>
              <a:rPr lang="fr-FR" sz="2000" dirty="0" err="1"/>
              <a:t>SelectKBest</a:t>
            </a:r>
            <a:r>
              <a:rPr lang="fr-FR" sz="2000" dirty="0"/>
              <a:t>) :</a:t>
            </a:r>
          </a:p>
          <a:p>
            <a:pPr marL="742950" lvl="1" indent="-285750">
              <a:buFont typeface="Arial" panose="020B0604020202020204" pitchFamily="34" charset="0"/>
              <a:buChar char="•"/>
            </a:pPr>
            <a:r>
              <a:rPr lang="fr-FR" sz="2000" dirty="0"/>
              <a:t>mesure de la relation statistique entre variables numériques et la cible</a:t>
            </a:r>
          </a:p>
          <a:p>
            <a:pPr>
              <a:buFont typeface="Arial" panose="020B0604020202020204" pitchFamily="34" charset="0"/>
              <a:buChar char="•"/>
            </a:pPr>
            <a:r>
              <a:rPr lang="fr-FR" sz="2000" dirty="0" err="1"/>
              <a:t>Random</a:t>
            </a:r>
            <a:r>
              <a:rPr lang="fr-FR" sz="2000" dirty="0"/>
              <a:t> Forest :</a:t>
            </a:r>
          </a:p>
          <a:p>
            <a:pPr marL="742950" lvl="1" indent="-285750">
              <a:buFont typeface="Arial" panose="020B0604020202020204" pitchFamily="34" charset="0"/>
              <a:buChar char="•"/>
            </a:pPr>
            <a:r>
              <a:rPr lang="fr-FR" sz="2000" dirty="0"/>
              <a:t>estimation non linéaire de l’importance réelle des variables</a:t>
            </a:r>
          </a:p>
          <a:p>
            <a:pPr marL="742950" lvl="1" indent="-285750">
              <a:buFont typeface="Arial" panose="020B0604020202020204" pitchFamily="34" charset="0"/>
              <a:buChar char="•"/>
            </a:pPr>
            <a:r>
              <a:rPr lang="fr-FR" sz="2000" dirty="0"/>
              <a:t>confirmation des variables dominantes</a:t>
            </a:r>
          </a:p>
        </p:txBody>
      </p:sp>
      <p:sp>
        <p:nvSpPr>
          <p:cNvPr id="10" name="ZoneTexte 9">
            <a:extLst>
              <a:ext uri="{FF2B5EF4-FFF2-40B4-BE49-F238E27FC236}">
                <a16:creationId xmlns:a16="http://schemas.microsoft.com/office/drawing/2014/main" id="{F0D378B0-5FDB-088C-CD2B-88B6090B9328}"/>
              </a:ext>
            </a:extLst>
          </p:cNvPr>
          <p:cNvSpPr txBox="1"/>
          <p:nvPr/>
        </p:nvSpPr>
        <p:spPr>
          <a:xfrm>
            <a:off x="180621" y="3192184"/>
            <a:ext cx="7021689" cy="3477875"/>
          </a:xfrm>
          <a:prstGeom prst="rect">
            <a:avLst/>
          </a:prstGeom>
          <a:noFill/>
        </p:spPr>
        <p:txBody>
          <a:bodyPr wrap="square">
            <a:spAutoFit/>
          </a:bodyPr>
          <a:lstStyle/>
          <a:p>
            <a:pPr>
              <a:buNone/>
            </a:pPr>
            <a:r>
              <a:rPr lang="fr-FR" sz="2000" b="1" dirty="0"/>
              <a:t>Résultat</a:t>
            </a:r>
          </a:p>
          <a:p>
            <a:pPr>
              <a:buNone/>
            </a:pPr>
            <a:r>
              <a:rPr lang="fr-FR" sz="2000" dirty="0"/>
              <a:t>Variables finales retenues :</a:t>
            </a:r>
          </a:p>
          <a:p>
            <a:pPr>
              <a:buFont typeface="Arial" panose="020B0604020202020204" pitchFamily="34" charset="0"/>
              <a:buChar char="•"/>
            </a:pPr>
            <a:r>
              <a:rPr lang="fr-FR" sz="2000" dirty="0" err="1">
                <a:latin typeface="Courier New" panose="02070309020205020404" pitchFamily="49" charset="0"/>
              </a:rPr>
              <a:t>Electricity</a:t>
            </a:r>
            <a:r>
              <a:rPr lang="fr-FR" sz="2000" dirty="0">
                <a:latin typeface="Courier New" panose="02070309020205020404" pitchFamily="49" charset="0"/>
              </a:rPr>
              <a:t>(</a:t>
            </a:r>
            <a:r>
              <a:rPr lang="fr-FR" sz="2000" dirty="0" err="1">
                <a:latin typeface="Courier New" panose="02070309020205020404" pitchFamily="49" charset="0"/>
              </a:rPr>
              <a:t>kBtu</a:t>
            </a:r>
            <a:r>
              <a:rPr lang="fr-FR" sz="2000" dirty="0">
                <a:latin typeface="Courier New" panose="02070309020205020404" pitchFamily="49" charset="0"/>
              </a:rPr>
              <a:t>)</a:t>
            </a:r>
            <a:endParaRPr lang="fr-FR" sz="2000" dirty="0"/>
          </a:p>
          <a:p>
            <a:pPr>
              <a:buFont typeface="Arial" panose="020B0604020202020204" pitchFamily="34" charset="0"/>
              <a:buChar char="•"/>
            </a:pPr>
            <a:r>
              <a:rPr lang="fr-FR" sz="2000" dirty="0" err="1">
                <a:latin typeface="Courier New" panose="02070309020205020404" pitchFamily="49" charset="0"/>
              </a:rPr>
              <a:t>NaturalGas</a:t>
            </a:r>
            <a:r>
              <a:rPr lang="fr-FR" sz="2000" dirty="0">
                <a:latin typeface="Courier New" panose="02070309020205020404" pitchFamily="49" charset="0"/>
              </a:rPr>
              <a:t>(</a:t>
            </a:r>
            <a:r>
              <a:rPr lang="fr-FR" sz="2000" dirty="0" err="1">
                <a:latin typeface="Courier New" panose="02070309020205020404" pitchFamily="49" charset="0"/>
              </a:rPr>
              <a:t>kBtu</a:t>
            </a:r>
            <a:r>
              <a:rPr lang="fr-FR" sz="2000" dirty="0">
                <a:latin typeface="Courier New" panose="02070309020205020404" pitchFamily="49" charset="0"/>
              </a:rPr>
              <a:t>)</a:t>
            </a:r>
            <a:endParaRPr lang="fr-FR" sz="2000" dirty="0"/>
          </a:p>
          <a:p>
            <a:pPr>
              <a:buFont typeface="Arial" panose="020B0604020202020204" pitchFamily="34" charset="0"/>
              <a:buChar char="•"/>
            </a:pPr>
            <a:r>
              <a:rPr lang="fr-FR" sz="2000" dirty="0" err="1">
                <a:latin typeface="Courier New" panose="02070309020205020404" pitchFamily="49" charset="0"/>
              </a:rPr>
              <a:t>SteamUse</a:t>
            </a:r>
            <a:r>
              <a:rPr lang="fr-FR" sz="2000" dirty="0">
                <a:latin typeface="Courier New" panose="02070309020205020404" pitchFamily="49" charset="0"/>
              </a:rPr>
              <a:t>(</a:t>
            </a:r>
            <a:r>
              <a:rPr lang="fr-FR" sz="2000" dirty="0" err="1">
                <a:latin typeface="Courier New" panose="02070309020205020404" pitchFamily="49" charset="0"/>
              </a:rPr>
              <a:t>kBtu</a:t>
            </a:r>
            <a:r>
              <a:rPr lang="fr-FR" sz="2000" dirty="0">
                <a:latin typeface="Courier New" panose="02070309020205020404" pitchFamily="49" charset="0"/>
              </a:rPr>
              <a:t>)</a:t>
            </a:r>
            <a:endParaRPr lang="fr-FR" sz="2000" dirty="0"/>
          </a:p>
          <a:p>
            <a:pPr>
              <a:buFont typeface="Arial" panose="020B0604020202020204" pitchFamily="34" charset="0"/>
              <a:buChar char="•"/>
            </a:pPr>
            <a:r>
              <a:rPr lang="fr-FR" sz="2000" dirty="0">
                <a:latin typeface="Courier New" panose="02070309020205020404" pitchFamily="49" charset="0"/>
              </a:rPr>
              <a:t>Log_PropertyGFATotal</a:t>
            </a:r>
            <a:endParaRPr lang="fr-FR" sz="2000" dirty="0"/>
          </a:p>
          <a:p>
            <a:pPr>
              <a:buFont typeface="Arial" panose="020B0604020202020204" pitchFamily="34" charset="0"/>
              <a:buChar char="•"/>
            </a:pPr>
            <a:r>
              <a:rPr lang="fr-FR" sz="2000" dirty="0" err="1">
                <a:latin typeface="Courier New" panose="02070309020205020404" pitchFamily="49" charset="0"/>
              </a:rPr>
              <a:t>LargestPropertyUseTypeGFA</a:t>
            </a:r>
            <a:endParaRPr lang="fr-FR" sz="2000" dirty="0"/>
          </a:p>
          <a:p>
            <a:pPr>
              <a:buFont typeface="Arial" panose="020B0604020202020204" pitchFamily="34" charset="0"/>
              <a:buChar char="•"/>
            </a:pPr>
            <a:r>
              <a:rPr lang="fr-FR" sz="2000" dirty="0">
                <a:latin typeface="Courier New" panose="02070309020205020404" pitchFamily="49" charset="0"/>
              </a:rPr>
              <a:t>GFA_per_Floor</a:t>
            </a:r>
            <a:endParaRPr lang="fr-FR" sz="2000" dirty="0"/>
          </a:p>
          <a:p>
            <a:pPr>
              <a:buFont typeface="Arial" panose="020B0604020202020204" pitchFamily="34" charset="0"/>
              <a:buChar char="•"/>
            </a:pPr>
            <a:r>
              <a:rPr lang="fr-FR" sz="2000" dirty="0">
                <a:latin typeface="Courier New" panose="02070309020205020404" pitchFamily="49" charset="0"/>
              </a:rPr>
              <a:t>BuildingAge</a:t>
            </a:r>
          </a:p>
          <a:p>
            <a:endParaRPr lang="fr-FR" sz="2000" dirty="0"/>
          </a:p>
          <a:p>
            <a:pPr>
              <a:buNone/>
            </a:pPr>
            <a:r>
              <a:rPr lang="fr-FR" sz="2000" dirty="0" err="1"/>
              <a:t>Dataset</a:t>
            </a:r>
            <a:r>
              <a:rPr lang="fr-FR" sz="2000" dirty="0"/>
              <a:t> réduit, explicable et robuste, sans fuite d’information.</a:t>
            </a:r>
          </a:p>
        </p:txBody>
      </p:sp>
      <p:pic>
        <p:nvPicPr>
          <p:cNvPr id="12" name="Image 11" descr="Une image contenant ligne, Tracé, capture d’écran, texte&#10;&#10;Le contenu généré par l’IA peut être incorrect.">
            <a:extLst>
              <a:ext uri="{FF2B5EF4-FFF2-40B4-BE49-F238E27FC236}">
                <a16:creationId xmlns:a16="http://schemas.microsoft.com/office/drawing/2014/main" id="{EFD4BCC9-0967-9BBF-A3CB-24CE8B77A61C}"/>
              </a:ext>
            </a:extLst>
          </p:cNvPr>
          <p:cNvPicPr>
            <a:picLocks noChangeAspect="1"/>
          </p:cNvPicPr>
          <p:nvPr/>
        </p:nvPicPr>
        <p:blipFill>
          <a:blip r:embed="rId3"/>
          <a:stretch>
            <a:fillRect/>
          </a:stretch>
        </p:blipFill>
        <p:spPr>
          <a:xfrm>
            <a:off x="4244622" y="3251451"/>
            <a:ext cx="7947378" cy="2761998"/>
          </a:xfrm>
          <a:prstGeom prst="rect">
            <a:avLst/>
          </a:prstGeom>
        </p:spPr>
      </p:pic>
    </p:spTree>
    <p:extLst>
      <p:ext uri="{BB962C8B-B14F-4D97-AF65-F5344CB8AC3E}">
        <p14:creationId xmlns:p14="http://schemas.microsoft.com/office/powerpoint/2010/main" val="5658141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D8EDE998-F897-67DD-4B9D-555EC5DBDBA1}"/>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E610AC51-DB72-2645-FBBB-7D7F9D36FB49}"/>
              </a:ext>
            </a:extLst>
          </p:cNvPr>
          <p:cNvSpPr txBox="1"/>
          <p:nvPr/>
        </p:nvSpPr>
        <p:spPr>
          <a:xfrm>
            <a:off x="3843866" y="0"/>
            <a:ext cx="3956756" cy="461665"/>
          </a:xfrm>
          <a:prstGeom prst="rect">
            <a:avLst/>
          </a:prstGeom>
          <a:noFill/>
        </p:spPr>
        <p:txBody>
          <a:bodyPr wrap="square">
            <a:spAutoFit/>
          </a:bodyPr>
          <a:lstStyle/>
          <a:p>
            <a:r>
              <a:rPr lang="fr-FR" sz="2400" b="1" u="sng" dirty="0"/>
              <a:t>Démarche de modélisation</a:t>
            </a:r>
          </a:p>
        </p:txBody>
      </p:sp>
      <p:sp>
        <p:nvSpPr>
          <p:cNvPr id="7" name="ZoneTexte 6">
            <a:extLst>
              <a:ext uri="{FF2B5EF4-FFF2-40B4-BE49-F238E27FC236}">
                <a16:creationId xmlns:a16="http://schemas.microsoft.com/office/drawing/2014/main" id="{A434E43C-F8AC-49A3-5734-BA836E019A07}"/>
              </a:ext>
            </a:extLst>
          </p:cNvPr>
          <p:cNvSpPr txBox="1"/>
          <p:nvPr/>
        </p:nvSpPr>
        <p:spPr>
          <a:xfrm>
            <a:off x="-1" y="461665"/>
            <a:ext cx="6987823" cy="1323439"/>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Problème formulé comme une régression supervisée</a:t>
            </a:r>
          </a:p>
          <a:p>
            <a:pPr>
              <a:buFont typeface="Arial" panose="020B0604020202020204" pitchFamily="34" charset="0"/>
              <a:buChar char="•"/>
            </a:pPr>
            <a:r>
              <a:rPr lang="fr-FR" sz="2000" dirty="0"/>
              <a:t>Variable cible : </a:t>
            </a:r>
            <a:r>
              <a:rPr lang="fr-FR" sz="2000" dirty="0" err="1"/>
              <a:t>SiteEnergyUseWN</a:t>
            </a:r>
            <a:r>
              <a:rPr lang="fr-FR" sz="2000" dirty="0"/>
              <a:t> (</a:t>
            </a:r>
            <a:r>
              <a:rPr lang="fr-FR" sz="2000" dirty="0" err="1"/>
              <a:t>kBtu</a:t>
            </a:r>
            <a:r>
              <a:rPr lang="fr-FR" sz="2000" dirty="0"/>
              <a:t>)</a:t>
            </a:r>
          </a:p>
          <a:p>
            <a:pPr>
              <a:buFont typeface="Arial" panose="020B0604020202020204" pitchFamily="34" charset="0"/>
              <a:buChar char="•"/>
            </a:pPr>
            <a:r>
              <a:rPr lang="fr-FR" sz="2000" dirty="0"/>
              <a:t>Jeu de données final composé de 7 variables explicatives </a:t>
            </a:r>
          </a:p>
        </p:txBody>
      </p:sp>
      <p:sp>
        <p:nvSpPr>
          <p:cNvPr id="9" name="ZoneTexte 8">
            <a:extLst>
              <a:ext uri="{FF2B5EF4-FFF2-40B4-BE49-F238E27FC236}">
                <a16:creationId xmlns:a16="http://schemas.microsoft.com/office/drawing/2014/main" id="{B05B7890-84A6-F3EB-EEF3-C6BCE55C4021}"/>
              </a:ext>
            </a:extLst>
          </p:cNvPr>
          <p:cNvSpPr txBox="1"/>
          <p:nvPr/>
        </p:nvSpPr>
        <p:spPr>
          <a:xfrm>
            <a:off x="0" y="4530158"/>
            <a:ext cx="10588978" cy="1631216"/>
          </a:xfrm>
          <a:prstGeom prst="rect">
            <a:avLst/>
          </a:prstGeom>
          <a:noFill/>
        </p:spPr>
        <p:txBody>
          <a:bodyPr wrap="square">
            <a:spAutoFit/>
          </a:bodyPr>
          <a:lstStyle/>
          <a:p>
            <a:pPr>
              <a:buNone/>
            </a:pPr>
            <a:r>
              <a:rPr lang="fr-FR" sz="2000" b="1" dirty="0"/>
              <a:t>Décisions</a:t>
            </a:r>
          </a:p>
          <a:p>
            <a:pPr>
              <a:buFont typeface="Arial" panose="020B0604020202020204" pitchFamily="34" charset="0"/>
              <a:buChar char="•"/>
            </a:pPr>
            <a:r>
              <a:rPr lang="fr-FR" sz="2000" dirty="0"/>
              <a:t>Séparation des données en jeu d’entraînement (80 %) et jeu de test (20 %)</a:t>
            </a:r>
          </a:p>
          <a:p>
            <a:pPr>
              <a:buFont typeface="Arial" panose="020B0604020202020204" pitchFamily="34" charset="0"/>
              <a:buChar char="•"/>
            </a:pPr>
            <a:r>
              <a:rPr lang="fr-FR" sz="2000" dirty="0"/>
              <a:t>Choix de deux modèles supervisés représentatifs :</a:t>
            </a:r>
          </a:p>
          <a:p>
            <a:pPr marL="742950" lvl="1" indent="-285750">
              <a:buFont typeface="Arial" panose="020B0604020202020204" pitchFamily="34" charset="0"/>
              <a:buChar char="•"/>
            </a:pPr>
            <a:r>
              <a:rPr lang="fr-FR" sz="2000" dirty="0"/>
              <a:t>un modèle linéaire (régression linéaire) comme </a:t>
            </a:r>
            <a:r>
              <a:rPr lang="fr-FR" sz="2000" dirty="0" err="1"/>
              <a:t>baseline</a:t>
            </a:r>
            <a:endParaRPr lang="fr-FR" sz="2000" dirty="0"/>
          </a:p>
          <a:p>
            <a:pPr marL="742950" lvl="1" indent="-285750">
              <a:buFont typeface="Arial" panose="020B0604020202020204" pitchFamily="34" charset="0"/>
              <a:buChar char="•"/>
            </a:pPr>
            <a:r>
              <a:rPr lang="fr-FR" sz="2000" dirty="0"/>
              <a:t>un modèle non linéaire (</a:t>
            </a:r>
            <a:r>
              <a:rPr lang="fr-FR" sz="2000" dirty="0" err="1"/>
              <a:t>Random</a:t>
            </a:r>
            <a:r>
              <a:rPr lang="fr-FR" sz="2000" dirty="0"/>
              <a:t> Forest) pour capturer des relations plus complexes</a:t>
            </a:r>
          </a:p>
        </p:txBody>
      </p:sp>
      <p:pic>
        <p:nvPicPr>
          <p:cNvPr id="11" name="Image 10" descr="Une image contenant capture d’écran&#10;&#10;Le contenu généré par l’IA peut être incorrect.">
            <a:extLst>
              <a:ext uri="{FF2B5EF4-FFF2-40B4-BE49-F238E27FC236}">
                <a16:creationId xmlns:a16="http://schemas.microsoft.com/office/drawing/2014/main" id="{6AF32EED-5F8C-998C-FF15-382172B3385A}"/>
              </a:ext>
            </a:extLst>
          </p:cNvPr>
          <p:cNvPicPr>
            <a:picLocks noChangeAspect="1"/>
          </p:cNvPicPr>
          <p:nvPr/>
        </p:nvPicPr>
        <p:blipFill>
          <a:blip r:embed="rId3"/>
          <a:stretch>
            <a:fillRect/>
          </a:stretch>
        </p:blipFill>
        <p:spPr>
          <a:xfrm>
            <a:off x="4730044" y="1725549"/>
            <a:ext cx="7461956" cy="3015784"/>
          </a:xfrm>
          <a:prstGeom prst="rect">
            <a:avLst/>
          </a:prstGeom>
        </p:spPr>
      </p:pic>
    </p:spTree>
    <p:extLst>
      <p:ext uri="{BB962C8B-B14F-4D97-AF65-F5344CB8AC3E}">
        <p14:creationId xmlns:p14="http://schemas.microsoft.com/office/powerpoint/2010/main" val="15347780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5309B588-1816-9486-C6F2-6C31F7408B8B}"/>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1C13439-7DEC-5B54-75B2-622F5C9F2F5F}"/>
              </a:ext>
            </a:extLst>
          </p:cNvPr>
          <p:cNvSpPr txBox="1"/>
          <p:nvPr/>
        </p:nvSpPr>
        <p:spPr>
          <a:xfrm>
            <a:off x="3431822" y="0"/>
            <a:ext cx="5057422" cy="461665"/>
          </a:xfrm>
          <a:prstGeom prst="rect">
            <a:avLst/>
          </a:prstGeom>
          <a:noFill/>
        </p:spPr>
        <p:txBody>
          <a:bodyPr wrap="square">
            <a:spAutoFit/>
          </a:bodyPr>
          <a:lstStyle/>
          <a:p>
            <a:pPr>
              <a:buNone/>
            </a:pPr>
            <a:r>
              <a:rPr lang="fr-FR" sz="2400" b="1" u="sng" dirty="0"/>
              <a:t>Comparaison des modèles testés</a:t>
            </a:r>
          </a:p>
        </p:txBody>
      </p:sp>
      <p:sp>
        <p:nvSpPr>
          <p:cNvPr id="3" name="ZoneTexte 2">
            <a:extLst>
              <a:ext uri="{FF2B5EF4-FFF2-40B4-BE49-F238E27FC236}">
                <a16:creationId xmlns:a16="http://schemas.microsoft.com/office/drawing/2014/main" id="{38D0572E-F53A-18EC-26F1-9EACEEBA0A99}"/>
              </a:ext>
            </a:extLst>
          </p:cNvPr>
          <p:cNvSpPr txBox="1"/>
          <p:nvPr/>
        </p:nvSpPr>
        <p:spPr>
          <a:xfrm>
            <a:off x="86498" y="461665"/>
            <a:ext cx="6098058" cy="400110"/>
          </a:xfrm>
          <a:prstGeom prst="rect">
            <a:avLst/>
          </a:prstGeom>
          <a:noFill/>
        </p:spPr>
        <p:txBody>
          <a:bodyPr wrap="square">
            <a:spAutoFit/>
          </a:bodyPr>
          <a:lstStyle/>
          <a:p>
            <a:r>
              <a:rPr lang="fr-FR" sz="2000" b="1" dirty="0"/>
              <a:t>Comparaison des modèles testés</a:t>
            </a:r>
          </a:p>
        </p:txBody>
      </p:sp>
      <p:sp>
        <p:nvSpPr>
          <p:cNvPr id="6" name="ZoneTexte 5">
            <a:extLst>
              <a:ext uri="{FF2B5EF4-FFF2-40B4-BE49-F238E27FC236}">
                <a16:creationId xmlns:a16="http://schemas.microsoft.com/office/drawing/2014/main" id="{AE1205D3-6252-D8D4-F981-2A0E91210866}"/>
              </a:ext>
            </a:extLst>
          </p:cNvPr>
          <p:cNvSpPr txBox="1"/>
          <p:nvPr/>
        </p:nvSpPr>
        <p:spPr>
          <a:xfrm>
            <a:off x="86498" y="1202375"/>
            <a:ext cx="6098058" cy="2246769"/>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Évaluation des modèles à l’aide :</a:t>
            </a:r>
          </a:p>
          <a:p>
            <a:pPr marL="742950" lvl="1" indent="-285750">
              <a:buFont typeface="Arial" panose="020B0604020202020204" pitchFamily="34" charset="0"/>
              <a:buChar char="•"/>
            </a:pPr>
            <a:r>
              <a:rPr lang="fr-FR" sz="2000" dirty="0"/>
              <a:t>du score R²</a:t>
            </a:r>
          </a:p>
          <a:p>
            <a:pPr marL="742950" lvl="1" indent="-285750">
              <a:buFont typeface="Arial" panose="020B0604020202020204" pitchFamily="34" charset="0"/>
              <a:buChar char="•"/>
            </a:pPr>
            <a:r>
              <a:rPr lang="fr-FR" sz="2000" dirty="0"/>
              <a:t>de la MAE</a:t>
            </a:r>
          </a:p>
          <a:p>
            <a:pPr marL="742950" lvl="1" indent="-285750">
              <a:buFont typeface="Arial" panose="020B0604020202020204" pitchFamily="34" charset="0"/>
              <a:buChar char="•"/>
            </a:pPr>
            <a:r>
              <a:rPr lang="fr-FR" sz="2000" dirty="0"/>
              <a:t>de la RMSE</a:t>
            </a:r>
          </a:p>
          <a:p>
            <a:pPr>
              <a:buFont typeface="Arial" panose="020B0604020202020204" pitchFamily="34" charset="0"/>
              <a:buChar char="•"/>
            </a:pPr>
            <a:r>
              <a:rPr lang="fr-FR" sz="2000" dirty="0"/>
              <a:t>Utilisation d’une validation croisée à 5 plis pour obtenir une estimation robuste des performances</a:t>
            </a:r>
          </a:p>
        </p:txBody>
      </p:sp>
      <p:sp>
        <p:nvSpPr>
          <p:cNvPr id="8" name="ZoneTexte 7">
            <a:extLst>
              <a:ext uri="{FF2B5EF4-FFF2-40B4-BE49-F238E27FC236}">
                <a16:creationId xmlns:a16="http://schemas.microsoft.com/office/drawing/2014/main" id="{868F93BD-9B41-1A9B-0850-97205E60FF52}"/>
              </a:ext>
            </a:extLst>
          </p:cNvPr>
          <p:cNvSpPr txBox="1"/>
          <p:nvPr/>
        </p:nvSpPr>
        <p:spPr>
          <a:xfrm>
            <a:off x="86497" y="4019717"/>
            <a:ext cx="8909221" cy="2554545"/>
          </a:xfrm>
          <a:prstGeom prst="rect">
            <a:avLst/>
          </a:prstGeom>
          <a:noFill/>
        </p:spPr>
        <p:txBody>
          <a:bodyPr wrap="square">
            <a:spAutoFit/>
          </a:bodyPr>
          <a:lstStyle/>
          <a:p>
            <a:pPr>
              <a:buNone/>
            </a:pPr>
            <a:r>
              <a:rPr lang="fr-FR" sz="2000" b="1" dirty="0"/>
              <a:t>Résultats</a:t>
            </a:r>
          </a:p>
          <a:p>
            <a:pPr>
              <a:buFont typeface="Arial" panose="020B0604020202020204" pitchFamily="34" charset="0"/>
              <a:buChar char="•"/>
            </a:pPr>
            <a:r>
              <a:rPr lang="fr-FR" sz="2000" dirty="0"/>
              <a:t>Régression linéaire :</a:t>
            </a:r>
          </a:p>
          <a:p>
            <a:pPr marL="742950" lvl="1" indent="-285750">
              <a:buFont typeface="Arial" panose="020B0604020202020204" pitchFamily="34" charset="0"/>
              <a:buChar char="•"/>
            </a:pPr>
            <a:r>
              <a:rPr lang="fr-FR" sz="2000" dirty="0"/>
              <a:t>Performance correcte mais limitée</a:t>
            </a:r>
          </a:p>
          <a:p>
            <a:pPr marL="742950" lvl="1" indent="-285750">
              <a:buFont typeface="Arial" panose="020B0604020202020204" pitchFamily="34" charset="0"/>
              <a:buChar char="•"/>
            </a:pPr>
            <a:r>
              <a:rPr lang="fr-FR" sz="2000" dirty="0"/>
              <a:t>Capte partiellement la relation entre les variables et la cible</a:t>
            </a:r>
          </a:p>
          <a:p>
            <a:pPr>
              <a:buFont typeface="Arial" panose="020B0604020202020204" pitchFamily="34" charset="0"/>
              <a:buChar char="•"/>
            </a:pPr>
            <a:r>
              <a:rPr lang="fr-FR" sz="2000" dirty="0" err="1"/>
              <a:t>Random</a:t>
            </a:r>
            <a:r>
              <a:rPr lang="fr-FR" sz="2000" dirty="0"/>
              <a:t> Forest :</a:t>
            </a:r>
          </a:p>
          <a:p>
            <a:pPr marL="742950" lvl="1" indent="-285750">
              <a:buFont typeface="Arial" panose="020B0604020202020204" pitchFamily="34" charset="0"/>
              <a:buChar char="•"/>
            </a:pPr>
            <a:r>
              <a:rPr lang="fr-FR" sz="2000" dirty="0"/>
              <a:t>Performance nettement supérieure (R² plus élevé)</a:t>
            </a:r>
          </a:p>
          <a:p>
            <a:pPr marL="742950" lvl="1" indent="-285750">
              <a:buFont typeface="Arial" panose="020B0604020202020204" pitchFamily="34" charset="0"/>
              <a:buChar char="•"/>
            </a:pPr>
            <a:r>
              <a:rPr lang="fr-FR" sz="2000" dirty="0"/>
              <a:t>Capacité accrue à modéliser des relations non linéaires entre les variables</a:t>
            </a:r>
          </a:p>
        </p:txBody>
      </p:sp>
      <p:pic>
        <p:nvPicPr>
          <p:cNvPr id="7" name="Image 6" descr="Une image contenant texte, capture d’écran, Police&#10;&#10;Le contenu généré par l’IA peut être incorrect.">
            <a:extLst>
              <a:ext uri="{FF2B5EF4-FFF2-40B4-BE49-F238E27FC236}">
                <a16:creationId xmlns:a16="http://schemas.microsoft.com/office/drawing/2014/main" id="{E8DB7675-6F92-3490-5312-D9FAE422495B}"/>
              </a:ext>
            </a:extLst>
          </p:cNvPr>
          <p:cNvPicPr>
            <a:picLocks noChangeAspect="1"/>
          </p:cNvPicPr>
          <p:nvPr/>
        </p:nvPicPr>
        <p:blipFill>
          <a:blip r:embed="rId3"/>
          <a:stretch>
            <a:fillRect/>
          </a:stretch>
        </p:blipFill>
        <p:spPr>
          <a:xfrm>
            <a:off x="8049296" y="661720"/>
            <a:ext cx="4056206" cy="4518123"/>
          </a:xfrm>
          <a:prstGeom prst="rect">
            <a:avLst/>
          </a:prstGeom>
        </p:spPr>
      </p:pic>
    </p:spTree>
    <p:extLst>
      <p:ext uri="{BB962C8B-B14F-4D97-AF65-F5344CB8AC3E}">
        <p14:creationId xmlns:p14="http://schemas.microsoft.com/office/powerpoint/2010/main" val="24227314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CBF92291-D1D1-C54A-E5E6-FA1E7D86052E}"/>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375C464E-C3E8-42AA-EE41-566DB1FA261D}"/>
              </a:ext>
            </a:extLst>
          </p:cNvPr>
          <p:cNvSpPr txBox="1"/>
          <p:nvPr/>
        </p:nvSpPr>
        <p:spPr>
          <a:xfrm>
            <a:off x="3431822" y="0"/>
            <a:ext cx="5057422" cy="461665"/>
          </a:xfrm>
          <a:prstGeom prst="rect">
            <a:avLst/>
          </a:prstGeom>
          <a:noFill/>
        </p:spPr>
        <p:txBody>
          <a:bodyPr wrap="square">
            <a:spAutoFit/>
          </a:bodyPr>
          <a:lstStyle/>
          <a:p>
            <a:pPr>
              <a:buNone/>
            </a:pPr>
            <a:r>
              <a:rPr lang="fr-FR" sz="2400" b="1" u="sng" dirty="0"/>
              <a:t>Comparaison des modèles testés</a:t>
            </a:r>
          </a:p>
        </p:txBody>
      </p:sp>
      <p:sp>
        <p:nvSpPr>
          <p:cNvPr id="3" name="ZoneTexte 2">
            <a:extLst>
              <a:ext uri="{FF2B5EF4-FFF2-40B4-BE49-F238E27FC236}">
                <a16:creationId xmlns:a16="http://schemas.microsoft.com/office/drawing/2014/main" id="{E0F06C2D-817C-C3F6-72D6-D7AE7004DFA0}"/>
              </a:ext>
            </a:extLst>
          </p:cNvPr>
          <p:cNvSpPr txBox="1"/>
          <p:nvPr/>
        </p:nvSpPr>
        <p:spPr>
          <a:xfrm>
            <a:off x="0" y="461665"/>
            <a:ext cx="6098058" cy="400110"/>
          </a:xfrm>
          <a:prstGeom prst="rect">
            <a:avLst/>
          </a:prstGeom>
          <a:noFill/>
        </p:spPr>
        <p:txBody>
          <a:bodyPr wrap="square">
            <a:spAutoFit/>
          </a:bodyPr>
          <a:lstStyle/>
          <a:p>
            <a:r>
              <a:rPr lang="fr-FR" sz="2000" b="1" dirty="0"/>
              <a:t>Choix du modèle retenu</a:t>
            </a:r>
          </a:p>
        </p:txBody>
      </p:sp>
      <p:sp>
        <p:nvSpPr>
          <p:cNvPr id="4" name="ZoneTexte 3">
            <a:extLst>
              <a:ext uri="{FF2B5EF4-FFF2-40B4-BE49-F238E27FC236}">
                <a16:creationId xmlns:a16="http://schemas.microsoft.com/office/drawing/2014/main" id="{0ECE5A9B-AFC1-B205-1EC8-8D7614D588D9}"/>
              </a:ext>
            </a:extLst>
          </p:cNvPr>
          <p:cNvSpPr txBox="1"/>
          <p:nvPr/>
        </p:nvSpPr>
        <p:spPr>
          <a:xfrm>
            <a:off x="0" y="1166842"/>
            <a:ext cx="7475838" cy="4647426"/>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La régression linéaire est utilisée comme modèle de référence :</a:t>
            </a:r>
          </a:p>
          <a:p>
            <a:pPr marL="742950" lvl="1" indent="-285750">
              <a:buFont typeface="Arial" panose="020B0604020202020204" pitchFamily="34" charset="0"/>
              <a:buChar char="•"/>
            </a:pPr>
            <a:r>
              <a:rPr lang="fr-FR" sz="2000" dirty="0"/>
              <a:t>performances modérées mais stables</a:t>
            </a:r>
          </a:p>
          <a:p>
            <a:pPr marL="742950" lvl="1" indent="-285750">
              <a:buFont typeface="Arial" panose="020B0604020202020204" pitchFamily="34" charset="0"/>
              <a:buChar char="•"/>
            </a:pPr>
            <a:r>
              <a:rPr lang="fr-FR" sz="2000" dirty="0"/>
              <a:t>écart limité entre train et test</a:t>
            </a:r>
          </a:p>
          <a:p>
            <a:pPr>
              <a:buFont typeface="Arial" panose="020B0604020202020204" pitchFamily="34" charset="0"/>
              <a:buChar char="•"/>
            </a:pPr>
            <a:r>
              <a:rPr lang="fr-FR" sz="2000" dirty="0"/>
              <a:t>La </a:t>
            </a:r>
            <a:r>
              <a:rPr lang="fr-FR" sz="2000" dirty="0" err="1"/>
              <a:t>Random</a:t>
            </a:r>
            <a:r>
              <a:rPr lang="fr-FR" sz="2000" dirty="0"/>
              <a:t> Forest affiche :</a:t>
            </a:r>
          </a:p>
          <a:p>
            <a:pPr marL="742950" lvl="1" indent="-285750">
              <a:buFont typeface="Arial" panose="020B0604020202020204" pitchFamily="34" charset="0"/>
              <a:buChar char="•"/>
            </a:pPr>
            <a:r>
              <a:rPr lang="fr-FR" sz="2000" dirty="0"/>
              <a:t>un R² très élevé sur le jeu d’entraînement (~0,99)</a:t>
            </a:r>
          </a:p>
          <a:p>
            <a:pPr marL="742950" lvl="1" indent="-285750">
              <a:buFont typeface="Arial" panose="020B0604020202020204" pitchFamily="34" charset="0"/>
              <a:buChar char="•"/>
            </a:pPr>
            <a:r>
              <a:rPr lang="fr-FR" sz="2000" dirty="0"/>
              <a:t>une forte dégradation en validation croisée</a:t>
            </a:r>
          </a:p>
          <a:p>
            <a:pPr marL="742950" lvl="1" indent="-285750">
              <a:buFont typeface="Arial" panose="020B0604020202020204" pitchFamily="34" charset="0"/>
              <a:buChar char="•"/>
            </a:pPr>
            <a:r>
              <a:rPr lang="fr-FR" sz="2000" dirty="0"/>
              <a:t>des MAE et RMSE plus élevées</a:t>
            </a:r>
          </a:p>
          <a:p>
            <a:pPr>
              <a:buFont typeface="Arial" panose="020B0604020202020204" pitchFamily="34" charset="0"/>
              <a:buChar char="•"/>
            </a:pPr>
            <a:r>
              <a:rPr lang="fr-FR" sz="2000" dirty="0"/>
              <a:t>Ce comportement indique :</a:t>
            </a:r>
          </a:p>
          <a:p>
            <a:pPr marL="742950" lvl="1" indent="-285750">
              <a:buFont typeface="Arial" panose="020B0604020202020204" pitchFamily="34" charset="0"/>
              <a:buChar char="•"/>
            </a:pPr>
            <a:r>
              <a:rPr lang="fr-FR" sz="2000" dirty="0"/>
              <a:t>un surapprentissage important</a:t>
            </a:r>
          </a:p>
          <a:p>
            <a:pPr marL="742950" lvl="1" indent="-285750">
              <a:buFont typeface="Arial" panose="020B0604020202020204" pitchFamily="34" charset="0"/>
              <a:buChar char="•"/>
            </a:pPr>
            <a:r>
              <a:rPr lang="fr-FR" sz="2000" dirty="0"/>
              <a:t>une surestimation de certaines variables</a:t>
            </a:r>
          </a:p>
          <a:p>
            <a:pPr marL="742950" lvl="1" indent="-285750">
              <a:buFont typeface="Arial" panose="020B0604020202020204" pitchFamily="34" charset="0"/>
              <a:buChar char="•"/>
            </a:pPr>
            <a:r>
              <a:rPr lang="fr-FR" sz="2000" dirty="0"/>
              <a:t>une faible capacité de généralisation, même après ajustement</a:t>
            </a:r>
          </a:p>
          <a:p>
            <a:pPr>
              <a:buNone/>
            </a:pPr>
            <a:br>
              <a:rPr lang="fr-FR" dirty="0"/>
            </a:br>
            <a:endParaRPr lang="fr-FR" dirty="0"/>
          </a:p>
        </p:txBody>
      </p:sp>
      <p:pic>
        <p:nvPicPr>
          <p:cNvPr id="6" name="Image 5" descr="Une image contenant texte, capture d’écran, Police&#10;&#10;Le contenu généré par l’IA peut être incorrect.">
            <a:extLst>
              <a:ext uri="{FF2B5EF4-FFF2-40B4-BE49-F238E27FC236}">
                <a16:creationId xmlns:a16="http://schemas.microsoft.com/office/drawing/2014/main" id="{58D810B2-A7E4-5FE3-6FD3-108E7D43CD9E}"/>
              </a:ext>
            </a:extLst>
          </p:cNvPr>
          <p:cNvPicPr>
            <a:picLocks noChangeAspect="1"/>
          </p:cNvPicPr>
          <p:nvPr/>
        </p:nvPicPr>
        <p:blipFill>
          <a:blip r:embed="rId3"/>
          <a:stretch>
            <a:fillRect/>
          </a:stretch>
        </p:blipFill>
        <p:spPr>
          <a:xfrm>
            <a:off x="7174607" y="661720"/>
            <a:ext cx="4996193" cy="2107238"/>
          </a:xfrm>
          <a:prstGeom prst="rect">
            <a:avLst/>
          </a:prstGeom>
        </p:spPr>
      </p:pic>
      <p:pic>
        <p:nvPicPr>
          <p:cNvPr id="8" name="Image 7" descr="Une image contenant texte, capture d’écran, Police, logiciel&#10;&#10;Le contenu généré par l’IA peut être incorrect.">
            <a:extLst>
              <a:ext uri="{FF2B5EF4-FFF2-40B4-BE49-F238E27FC236}">
                <a16:creationId xmlns:a16="http://schemas.microsoft.com/office/drawing/2014/main" id="{88C6E196-3E61-4EF8-5B4C-79EEF6AA27CA}"/>
              </a:ext>
            </a:extLst>
          </p:cNvPr>
          <p:cNvPicPr>
            <a:picLocks noChangeAspect="1"/>
          </p:cNvPicPr>
          <p:nvPr/>
        </p:nvPicPr>
        <p:blipFill>
          <a:blip r:embed="rId4"/>
          <a:stretch>
            <a:fillRect/>
          </a:stretch>
        </p:blipFill>
        <p:spPr>
          <a:xfrm>
            <a:off x="7194219" y="2949263"/>
            <a:ext cx="4956968" cy="2279560"/>
          </a:xfrm>
          <a:prstGeom prst="rect">
            <a:avLst/>
          </a:prstGeom>
        </p:spPr>
      </p:pic>
    </p:spTree>
    <p:extLst>
      <p:ext uri="{BB962C8B-B14F-4D97-AF65-F5344CB8AC3E}">
        <p14:creationId xmlns:p14="http://schemas.microsoft.com/office/powerpoint/2010/main" val="1363918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C5AA7808-E3E6-46A7-6268-4E01D5C0B362}"/>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CBE14D36-7A17-9A3C-C6BD-82C7E4276D0A}"/>
              </a:ext>
            </a:extLst>
          </p:cNvPr>
          <p:cNvSpPr txBox="1"/>
          <p:nvPr/>
        </p:nvSpPr>
        <p:spPr>
          <a:xfrm>
            <a:off x="3431822" y="0"/>
            <a:ext cx="5057422" cy="461665"/>
          </a:xfrm>
          <a:prstGeom prst="rect">
            <a:avLst/>
          </a:prstGeom>
          <a:noFill/>
        </p:spPr>
        <p:txBody>
          <a:bodyPr wrap="square">
            <a:spAutoFit/>
          </a:bodyPr>
          <a:lstStyle/>
          <a:p>
            <a:pPr>
              <a:buNone/>
            </a:pPr>
            <a:r>
              <a:rPr lang="fr-FR" sz="2400" b="1" u="sng" dirty="0"/>
              <a:t>Comparaison des modèles testés</a:t>
            </a:r>
          </a:p>
        </p:txBody>
      </p:sp>
      <p:sp>
        <p:nvSpPr>
          <p:cNvPr id="3" name="ZoneTexte 2">
            <a:extLst>
              <a:ext uri="{FF2B5EF4-FFF2-40B4-BE49-F238E27FC236}">
                <a16:creationId xmlns:a16="http://schemas.microsoft.com/office/drawing/2014/main" id="{893A28E4-7DED-15CF-9CD8-D3051FACD9FC}"/>
              </a:ext>
            </a:extLst>
          </p:cNvPr>
          <p:cNvSpPr txBox="1"/>
          <p:nvPr/>
        </p:nvSpPr>
        <p:spPr>
          <a:xfrm>
            <a:off x="0" y="461665"/>
            <a:ext cx="6098058" cy="400110"/>
          </a:xfrm>
          <a:prstGeom prst="rect">
            <a:avLst/>
          </a:prstGeom>
          <a:noFill/>
        </p:spPr>
        <p:txBody>
          <a:bodyPr wrap="square">
            <a:spAutoFit/>
          </a:bodyPr>
          <a:lstStyle/>
          <a:p>
            <a:r>
              <a:rPr lang="fr-FR" sz="2000" b="1" dirty="0"/>
              <a:t>Choix du modèle retenu</a:t>
            </a:r>
          </a:p>
        </p:txBody>
      </p:sp>
      <p:sp>
        <p:nvSpPr>
          <p:cNvPr id="6" name="ZoneTexte 5">
            <a:extLst>
              <a:ext uri="{FF2B5EF4-FFF2-40B4-BE49-F238E27FC236}">
                <a16:creationId xmlns:a16="http://schemas.microsoft.com/office/drawing/2014/main" id="{F19A185B-7F43-1595-DC2F-75EE2A8902A8}"/>
              </a:ext>
            </a:extLst>
          </p:cNvPr>
          <p:cNvSpPr txBox="1"/>
          <p:nvPr/>
        </p:nvSpPr>
        <p:spPr>
          <a:xfrm>
            <a:off x="1" y="1323440"/>
            <a:ext cx="6870356" cy="3447098"/>
          </a:xfrm>
          <a:prstGeom prst="rect">
            <a:avLst/>
          </a:prstGeom>
          <a:noFill/>
        </p:spPr>
        <p:txBody>
          <a:bodyPr wrap="square">
            <a:spAutoFit/>
          </a:bodyPr>
          <a:lstStyle/>
          <a:p>
            <a:pPr>
              <a:buNone/>
            </a:pPr>
            <a:r>
              <a:rPr lang="fr-FR" b="1" dirty="0"/>
              <a:t>Décision</a:t>
            </a:r>
          </a:p>
          <a:p>
            <a:pPr>
              <a:buFont typeface="Arial" panose="020B0604020202020204" pitchFamily="34" charset="0"/>
              <a:buChar char="•"/>
            </a:pPr>
            <a:r>
              <a:rPr lang="fr-FR" sz="2000" dirty="0"/>
              <a:t>Régression linéaire retenue comme modèle principal</a:t>
            </a:r>
          </a:p>
          <a:p>
            <a:pPr>
              <a:buFont typeface="Arial" panose="020B0604020202020204" pitchFamily="34" charset="0"/>
              <a:buChar char="•"/>
            </a:pPr>
            <a:r>
              <a:rPr lang="fr-FR" sz="2000" dirty="0"/>
              <a:t>Justifications :</a:t>
            </a:r>
          </a:p>
          <a:p>
            <a:pPr marL="742950" lvl="1" indent="-285750">
              <a:buFont typeface="Arial" panose="020B0604020202020204" pitchFamily="34" charset="0"/>
              <a:buChar char="•"/>
            </a:pPr>
            <a:r>
              <a:rPr lang="fr-FR" sz="2000" dirty="0"/>
              <a:t>meilleure stabilité des performances</a:t>
            </a:r>
          </a:p>
          <a:p>
            <a:pPr marL="742950" lvl="1" indent="-285750">
              <a:buFont typeface="Arial" panose="020B0604020202020204" pitchFamily="34" charset="0"/>
              <a:buChar char="•"/>
            </a:pPr>
            <a:r>
              <a:rPr lang="fr-FR" sz="2000" dirty="0"/>
              <a:t>généralisation plus cohérente sur les données de validation</a:t>
            </a:r>
          </a:p>
          <a:p>
            <a:pPr marL="742950" lvl="1" indent="-285750">
              <a:buFont typeface="Arial" panose="020B0604020202020204" pitchFamily="34" charset="0"/>
              <a:buChar char="•"/>
            </a:pPr>
            <a:r>
              <a:rPr lang="fr-FR" sz="2000" dirty="0"/>
              <a:t>absence de surapprentissage excessif</a:t>
            </a:r>
          </a:p>
          <a:p>
            <a:pPr marL="742950" lvl="1" indent="-285750">
              <a:buFont typeface="Arial" panose="020B0604020202020204" pitchFamily="34" charset="0"/>
              <a:buChar char="•"/>
            </a:pPr>
            <a:r>
              <a:rPr lang="fr-FR" sz="2000" dirty="0"/>
              <a:t>modèle plus robuste et interprétable dans le contexte étudié</a:t>
            </a:r>
          </a:p>
          <a:p>
            <a:pPr>
              <a:buFont typeface="Arial" panose="020B0604020202020204" pitchFamily="34" charset="0"/>
              <a:buChar char="•"/>
            </a:pPr>
            <a:r>
              <a:rPr lang="fr-FR" sz="2000" dirty="0"/>
              <a:t>L’optimisation est volontairement concentrée sur la régression linéaire, plus adaptée à la structure des données</a:t>
            </a:r>
          </a:p>
        </p:txBody>
      </p:sp>
      <p:pic>
        <p:nvPicPr>
          <p:cNvPr id="8" name="Image 7" descr="Une image contenant texte, capture d’écran, Police, noir&#10;&#10;Le contenu généré par l’IA peut être incorrect.">
            <a:extLst>
              <a:ext uri="{FF2B5EF4-FFF2-40B4-BE49-F238E27FC236}">
                <a16:creationId xmlns:a16="http://schemas.microsoft.com/office/drawing/2014/main" id="{E64B42F3-87D3-77E3-DA2A-6184A2E0C162}"/>
              </a:ext>
            </a:extLst>
          </p:cNvPr>
          <p:cNvPicPr>
            <a:picLocks noChangeAspect="1"/>
          </p:cNvPicPr>
          <p:nvPr/>
        </p:nvPicPr>
        <p:blipFill>
          <a:blip r:embed="rId3"/>
          <a:stretch>
            <a:fillRect/>
          </a:stretch>
        </p:blipFill>
        <p:spPr>
          <a:xfrm>
            <a:off x="1951892" y="5029168"/>
            <a:ext cx="8103796" cy="1206290"/>
          </a:xfrm>
          <a:prstGeom prst="rect">
            <a:avLst/>
          </a:prstGeom>
        </p:spPr>
      </p:pic>
    </p:spTree>
    <p:extLst>
      <p:ext uri="{BB962C8B-B14F-4D97-AF65-F5344CB8AC3E}">
        <p14:creationId xmlns:p14="http://schemas.microsoft.com/office/powerpoint/2010/main" val="31523597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03127D63-BFB8-5787-FD5A-D2A0D4C0A085}"/>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20556510-1032-410E-348B-BEFFCFF4D8C5}"/>
              </a:ext>
            </a:extLst>
          </p:cNvPr>
          <p:cNvSpPr txBox="1"/>
          <p:nvPr/>
        </p:nvSpPr>
        <p:spPr>
          <a:xfrm>
            <a:off x="3727939" y="0"/>
            <a:ext cx="5287107" cy="461665"/>
          </a:xfrm>
          <a:prstGeom prst="rect">
            <a:avLst/>
          </a:prstGeom>
          <a:noFill/>
        </p:spPr>
        <p:txBody>
          <a:bodyPr wrap="square">
            <a:spAutoFit/>
          </a:bodyPr>
          <a:lstStyle/>
          <a:p>
            <a:r>
              <a:rPr lang="fr-FR" sz="2400" b="1" u="sng" dirty="0"/>
              <a:t>Méthode d’optimisation du modèle</a:t>
            </a:r>
          </a:p>
        </p:txBody>
      </p:sp>
      <p:sp>
        <p:nvSpPr>
          <p:cNvPr id="7" name="ZoneTexte 6">
            <a:extLst>
              <a:ext uri="{FF2B5EF4-FFF2-40B4-BE49-F238E27FC236}">
                <a16:creationId xmlns:a16="http://schemas.microsoft.com/office/drawing/2014/main" id="{46A0F1D0-5688-B8FE-614B-9FF9E816C67B}"/>
              </a:ext>
            </a:extLst>
          </p:cNvPr>
          <p:cNvSpPr txBox="1"/>
          <p:nvPr/>
        </p:nvSpPr>
        <p:spPr>
          <a:xfrm>
            <a:off x="152400" y="592413"/>
            <a:ext cx="6096000" cy="5940088"/>
          </a:xfrm>
          <a:prstGeom prst="rect">
            <a:avLst/>
          </a:prstGeom>
          <a:noFill/>
        </p:spPr>
        <p:txBody>
          <a:bodyPr wrap="square">
            <a:spAutoFit/>
          </a:bodyPr>
          <a:lstStyle/>
          <a:p>
            <a:pPr>
              <a:buNone/>
            </a:pPr>
            <a:r>
              <a:rPr lang="fr-FR" sz="2000" b="1" dirty="0"/>
              <a:t>Méthodologie</a:t>
            </a:r>
            <a:endParaRPr lang="fr-FR" sz="2000" dirty="0"/>
          </a:p>
          <a:p>
            <a:pPr>
              <a:buFont typeface="Arial" panose="020B0604020202020204" pitchFamily="34" charset="0"/>
              <a:buChar char="•"/>
            </a:pPr>
            <a:r>
              <a:rPr lang="fr-FR" sz="2000" dirty="0"/>
              <a:t>Sélection du modèle </a:t>
            </a:r>
            <a:r>
              <a:rPr lang="fr-FR" sz="2000" b="1" dirty="0"/>
              <a:t>Ridge </a:t>
            </a:r>
            <a:r>
              <a:rPr lang="fr-FR" sz="2000" b="1" dirty="0" err="1"/>
              <a:t>Regression</a:t>
            </a:r>
            <a:r>
              <a:rPr lang="fr-FR" sz="2000" dirty="0"/>
              <a:t> (régression linéaire régularisée)</a:t>
            </a:r>
          </a:p>
          <a:p>
            <a:pPr>
              <a:buFont typeface="Arial" panose="020B0604020202020204" pitchFamily="34" charset="0"/>
              <a:buChar char="•"/>
            </a:pPr>
            <a:endParaRPr lang="fr-FR" sz="2000" dirty="0"/>
          </a:p>
          <a:p>
            <a:pPr>
              <a:buFont typeface="Arial" panose="020B0604020202020204" pitchFamily="34" charset="0"/>
              <a:buChar char="•"/>
            </a:pPr>
            <a:r>
              <a:rPr lang="fr-FR" sz="2000" b="1" dirty="0"/>
              <a:t>Objectif :</a:t>
            </a:r>
          </a:p>
          <a:p>
            <a:pPr marL="742950" lvl="1" indent="-285750">
              <a:buFont typeface="Arial" panose="020B0604020202020204" pitchFamily="34" charset="0"/>
              <a:buChar char="•"/>
            </a:pPr>
            <a:r>
              <a:rPr lang="fr-FR" sz="2000" dirty="0"/>
              <a:t>limiter le surapprentissage</a:t>
            </a:r>
          </a:p>
          <a:p>
            <a:pPr marL="742950" lvl="1" indent="-285750">
              <a:buFont typeface="Arial" panose="020B0604020202020204" pitchFamily="34" charset="0"/>
              <a:buChar char="•"/>
            </a:pPr>
            <a:r>
              <a:rPr lang="fr-FR" sz="2000" dirty="0"/>
              <a:t>stabiliser les coefficients</a:t>
            </a:r>
          </a:p>
          <a:p>
            <a:pPr marL="742950" lvl="1" indent="-285750">
              <a:buFont typeface="Arial" panose="020B0604020202020204" pitchFamily="34" charset="0"/>
              <a:buChar char="•"/>
            </a:pPr>
            <a:r>
              <a:rPr lang="fr-FR" sz="2000" dirty="0"/>
              <a:t>améliorer la généralisation</a:t>
            </a:r>
          </a:p>
          <a:p>
            <a:pPr marL="742950" lvl="1" indent="-285750">
              <a:buFont typeface="Arial" panose="020B0604020202020204" pitchFamily="34" charset="0"/>
              <a:buChar char="•"/>
            </a:pPr>
            <a:endParaRPr lang="fr-FR" sz="2000" dirty="0"/>
          </a:p>
          <a:p>
            <a:pPr>
              <a:buNone/>
            </a:pPr>
            <a:r>
              <a:rPr lang="fr-FR" sz="2000" b="1" dirty="0"/>
              <a:t>Mise en œuvre</a:t>
            </a:r>
            <a:endParaRPr lang="fr-FR" sz="2000" dirty="0"/>
          </a:p>
          <a:p>
            <a:pPr>
              <a:buFont typeface="Arial" panose="020B0604020202020204" pitchFamily="34" charset="0"/>
              <a:buChar char="•"/>
            </a:pPr>
            <a:r>
              <a:rPr lang="fr-FR" sz="2000" dirty="0"/>
              <a:t>Recherche du paramètre de régularisation </a:t>
            </a:r>
            <a:r>
              <a:rPr lang="fr-FR" sz="2000" dirty="0">
                <a:latin typeface="Courier New" panose="02070309020205020404" pitchFamily="49" charset="0"/>
              </a:rPr>
              <a:t>alpha</a:t>
            </a:r>
            <a:r>
              <a:rPr lang="fr-FR" sz="2000" dirty="0"/>
              <a:t> par </a:t>
            </a:r>
            <a:r>
              <a:rPr lang="fr-FR" sz="2000" b="1" dirty="0"/>
              <a:t>validation croisée</a:t>
            </a:r>
            <a:endParaRPr lang="fr-FR" sz="2000" dirty="0"/>
          </a:p>
          <a:p>
            <a:pPr>
              <a:buFont typeface="Arial" panose="020B0604020202020204" pitchFamily="34" charset="0"/>
              <a:buChar char="•"/>
            </a:pPr>
            <a:r>
              <a:rPr lang="fr-FR" sz="2000" dirty="0"/>
              <a:t>Test d’une plage logarithmique d’alpha</a:t>
            </a:r>
          </a:p>
          <a:p>
            <a:pPr>
              <a:buFont typeface="Arial" panose="020B0604020202020204" pitchFamily="34" charset="0"/>
              <a:buChar char="•"/>
            </a:pPr>
            <a:r>
              <a:rPr lang="fr-FR" sz="2000" dirty="0"/>
              <a:t>Optimisation basée sur la métrique </a:t>
            </a:r>
            <a:r>
              <a:rPr lang="fr-FR" sz="2000" b="1" dirty="0"/>
              <a:t>R²</a:t>
            </a:r>
          </a:p>
          <a:p>
            <a:pPr>
              <a:buFont typeface="Arial" panose="020B0604020202020204" pitchFamily="34" charset="0"/>
              <a:buChar char="•"/>
            </a:pPr>
            <a:endParaRPr lang="fr-FR" sz="2000" dirty="0"/>
          </a:p>
          <a:p>
            <a:pPr>
              <a:buNone/>
            </a:pPr>
            <a:r>
              <a:rPr lang="fr-FR" sz="2000" b="1" dirty="0"/>
              <a:t>Résultat</a:t>
            </a:r>
            <a:endParaRPr lang="fr-FR" sz="2000" dirty="0"/>
          </a:p>
          <a:p>
            <a:pPr>
              <a:buFont typeface="Arial" panose="020B0604020202020204" pitchFamily="34" charset="0"/>
              <a:buChar char="•"/>
            </a:pPr>
            <a:r>
              <a:rPr lang="fr-FR" sz="2000" dirty="0"/>
              <a:t>Valeur optimale de </a:t>
            </a:r>
            <a:r>
              <a:rPr lang="fr-FR" sz="2000" dirty="0">
                <a:latin typeface="Courier New" panose="02070309020205020404" pitchFamily="49" charset="0"/>
              </a:rPr>
              <a:t>alpha</a:t>
            </a:r>
            <a:r>
              <a:rPr lang="fr-FR" sz="2000" dirty="0"/>
              <a:t> ≈ </a:t>
            </a:r>
            <a:r>
              <a:rPr lang="fr-FR" sz="2000" b="1" dirty="0"/>
              <a:t>78</a:t>
            </a:r>
            <a:endParaRPr lang="fr-FR" sz="2000" dirty="0"/>
          </a:p>
          <a:p>
            <a:pPr>
              <a:buFont typeface="Arial" panose="020B0604020202020204" pitchFamily="34" charset="0"/>
              <a:buChar char="•"/>
            </a:pPr>
            <a:r>
              <a:rPr lang="fr-FR" sz="2000" dirty="0"/>
              <a:t>Modèle plus stable que la régression linéaire simple</a:t>
            </a:r>
          </a:p>
          <a:p>
            <a:pPr>
              <a:buFont typeface="Arial" panose="020B0604020202020204" pitchFamily="34" charset="0"/>
              <a:buChar char="•"/>
            </a:pPr>
            <a:r>
              <a:rPr lang="fr-FR" sz="2000" dirty="0"/>
              <a:t>Aucun surapprentissage observé après régularisation</a:t>
            </a:r>
          </a:p>
        </p:txBody>
      </p:sp>
    </p:spTree>
    <p:extLst>
      <p:ext uri="{BB962C8B-B14F-4D97-AF65-F5344CB8AC3E}">
        <p14:creationId xmlns:p14="http://schemas.microsoft.com/office/powerpoint/2010/main" val="25157981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041AFA69-8BAA-679B-75FE-33497B06BAD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630DC90A-8A90-2D0F-7414-2B48C4BB4C65}"/>
              </a:ext>
            </a:extLst>
          </p:cNvPr>
          <p:cNvSpPr txBox="1"/>
          <p:nvPr/>
        </p:nvSpPr>
        <p:spPr>
          <a:xfrm>
            <a:off x="3516922" y="0"/>
            <a:ext cx="5439508" cy="461665"/>
          </a:xfrm>
          <a:prstGeom prst="rect">
            <a:avLst/>
          </a:prstGeom>
          <a:noFill/>
        </p:spPr>
        <p:txBody>
          <a:bodyPr wrap="square">
            <a:spAutoFit/>
          </a:bodyPr>
          <a:lstStyle/>
          <a:p>
            <a:r>
              <a:rPr lang="fr-FR" sz="2400" b="1" u="sng" dirty="0"/>
              <a:t>Résultats obtenus après optimisation</a:t>
            </a:r>
          </a:p>
        </p:txBody>
      </p:sp>
      <p:sp>
        <p:nvSpPr>
          <p:cNvPr id="7" name="ZoneTexte 6">
            <a:extLst>
              <a:ext uri="{FF2B5EF4-FFF2-40B4-BE49-F238E27FC236}">
                <a16:creationId xmlns:a16="http://schemas.microsoft.com/office/drawing/2014/main" id="{16800C1A-DBBA-ABE8-54F8-D0C6DA936E2F}"/>
              </a:ext>
            </a:extLst>
          </p:cNvPr>
          <p:cNvSpPr txBox="1"/>
          <p:nvPr/>
        </p:nvSpPr>
        <p:spPr>
          <a:xfrm>
            <a:off x="-1" y="673131"/>
            <a:ext cx="6377355" cy="3785652"/>
          </a:xfrm>
          <a:prstGeom prst="rect">
            <a:avLst/>
          </a:prstGeom>
          <a:noFill/>
        </p:spPr>
        <p:txBody>
          <a:bodyPr wrap="square">
            <a:spAutoFit/>
          </a:bodyPr>
          <a:lstStyle/>
          <a:p>
            <a:pPr>
              <a:buNone/>
            </a:pPr>
            <a:r>
              <a:rPr lang="fr-FR" sz="2000" b="1" dirty="0"/>
              <a:t>Performances du modèle Ridge</a:t>
            </a:r>
          </a:p>
          <a:p>
            <a:pPr>
              <a:buFont typeface="Arial" panose="020B0604020202020204" pitchFamily="34" charset="0"/>
              <a:buChar char="•"/>
            </a:pPr>
            <a:r>
              <a:rPr lang="fr-FR" sz="2000" dirty="0"/>
              <a:t>R² (validation croisée) ≈ 0,45 – 0,50</a:t>
            </a:r>
          </a:p>
          <a:p>
            <a:pPr>
              <a:buFont typeface="Arial" panose="020B0604020202020204" pitchFamily="34" charset="0"/>
              <a:buChar char="•"/>
            </a:pPr>
            <a:r>
              <a:rPr lang="fr-FR" sz="2000" dirty="0"/>
              <a:t>Les métriques (MAE, RMSE) restent élevées</a:t>
            </a:r>
          </a:p>
          <a:p>
            <a:pPr>
              <a:buFont typeface="Arial" panose="020B0604020202020204" pitchFamily="34" charset="0"/>
              <a:buChar char="•"/>
            </a:pPr>
            <a:r>
              <a:rPr lang="fr-FR" sz="2000" dirty="0"/>
              <a:t>Les performances plafonnent malgré l’optimisation</a:t>
            </a:r>
          </a:p>
          <a:p>
            <a:pPr>
              <a:buFont typeface="Arial" panose="020B0604020202020204" pitchFamily="34" charset="0"/>
              <a:buChar char="•"/>
            </a:pPr>
            <a:endParaRPr lang="fr-FR" sz="2000" dirty="0"/>
          </a:p>
          <a:p>
            <a:pPr>
              <a:buNone/>
            </a:pPr>
            <a:r>
              <a:rPr lang="fr-FR" sz="2000" b="1" dirty="0"/>
              <a:t>Analyse</a:t>
            </a:r>
          </a:p>
          <a:p>
            <a:pPr>
              <a:buFont typeface="Arial" panose="020B0604020202020204" pitchFamily="34" charset="0"/>
              <a:buChar char="•"/>
            </a:pPr>
            <a:r>
              <a:rPr lang="fr-FR" sz="2000" dirty="0"/>
              <a:t>L’écart entre train et validation reste limité</a:t>
            </a:r>
          </a:p>
          <a:p>
            <a:pPr>
              <a:buFont typeface="Arial" panose="020B0604020202020204" pitchFamily="34" charset="0"/>
              <a:buChar char="•"/>
            </a:pPr>
            <a:r>
              <a:rPr lang="fr-FR" sz="2000" dirty="0"/>
              <a:t>Le modèle généralise correctement</a:t>
            </a:r>
          </a:p>
          <a:p>
            <a:pPr>
              <a:buFont typeface="Arial" panose="020B0604020202020204" pitchFamily="34" charset="0"/>
              <a:buChar char="•"/>
            </a:pPr>
            <a:r>
              <a:rPr lang="fr-FR" sz="2000" dirty="0"/>
              <a:t>L’optimisation améliore la stabilité mais pas la performance maximale</a:t>
            </a:r>
          </a:p>
          <a:p>
            <a:endParaRPr lang="fr-FR" sz="2000" dirty="0"/>
          </a:p>
          <a:p>
            <a:pPr>
              <a:buNone/>
            </a:pPr>
            <a:r>
              <a:rPr lang="fr-FR" sz="2000" dirty="0"/>
              <a:t>Le modèle atteint un plafond de performance réaliste.</a:t>
            </a:r>
          </a:p>
        </p:txBody>
      </p:sp>
    </p:spTree>
    <p:extLst>
      <p:ext uri="{BB962C8B-B14F-4D97-AF65-F5344CB8AC3E}">
        <p14:creationId xmlns:p14="http://schemas.microsoft.com/office/powerpoint/2010/main" val="20743360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83EE64EA-E14B-9514-73D2-0E6C540B7612}"/>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E89DC88A-5D82-DE51-2661-3412A42CFF35}"/>
              </a:ext>
            </a:extLst>
          </p:cNvPr>
          <p:cNvSpPr txBox="1"/>
          <p:nvPr/>
        </p:nvSpPr>
        <p:spPr>
          <a:xfrm>
            <a:off x="3927231" y="0"/>
            <a:ext cx="4689231" cy="400110"/>
          </a:xfrm>
          <a:prstGeom prst="rect">
            <a:avLst/>
          </a:prstGeom>
          <a:noFill/>
        </p:spPr>
        <p:txBody>
          <a:bodyPr wrap="square">
            <a:spAutoFit/>
          </a:bodyPr>
          <a:lstStyle/>
          <a:p>
            <a:r>
              <a:rPr lang="fr-FR" sz="2000" b="1" u="sng" dirty="0"/>
              <a:t>Interprétation des résultats et limites</a:t>
            </a:r>
          </a:p>
        </p:txBody>
      </p:sp>
      <p:sp>
        <p:nvSpPr>
          <p:cNvPr id="7" name="ZoneTexte 6">
            <a:extLst>
              <a:ext uri="{FF2B5EF4-FFF2-40B4-BE49-F238E27FC236}">
                <a16:creationId xmlns:a16="http://schemas.microsoft.com/office/drawing/2014/main" id="{DCF2F1AC-13E8-8361-D1F5-2E6071F571EA}"/>
              </a:ext>
            </a:extLst>
          </p:cNvPr>
          <p:cNvSpPr txBox="1"/>
          <p:nvPr/>
        </p:nvSpPr>
        <p:spPr>
          <a:xfrm>
            <a:off x="0" y="400110"/>
            <a:ext cx="12109938" cy="5016758"/>
          </a:xfrm>
          <a:prstGeom prst="rect">
            <a:avLst/>
          </a:prstGeom>
          <a:noFill/>
        </p:spPr>
        <p:txBody>
          <a:bodyPr wrap="square">
            <a:spAutoFit/>
          </a:bodyPr>
          <a:lstStyle/>
          <a:p>
            <a:pPr>
              <a:buNone/>
            </a:pPr>
            <a:r>
              <a:rPr lang="fr-FR" sz="2000" b="1" dirty="0"/>
              <a:t>Gestion du data </a:t>
            </a:r>
            <a:r>
              <a:rPr lang="fr-FR" sz="2000" b="1" dirty="0" err="1"/>
              <a:t>leakage</a:t>
            </a:r>
            <a:endParaRPr lang="fr-FR" sz="2000" dirty="0"/>
          </a:p>
          <a:p>
            <a:pPr>
              <a:buFont typeface="Arial" panose="020B0604020202020204" pitchFamily="34" charset="0"/>
              <a:buChar char="•"/>
            </a:pPr>
            <a:r>
              <a:rPr lang="fr-FR" sz="2000" dirty="0"/>
              <a:t>La majorité des variables directement liées à la consommation énergétique ont été supprimées</a:t>
            </a:r>
          </a:p>
          <a:p>
            <a:pPr>
              <a:buFont typeface="Arial" panose="020B0604020202020204" pitchFamily="34" charset="0"/>
              <a:buChar char="•"/>
            </a:pPr>
            <a:r>
              <a:rPr lang="fr-FR" sz="2000" dirty="0"/>
              <a:t>Objectif : éviter que le modèle apprenne indirectement la variable cible</a:t>
            </a:r>
          </a:p>
          <a:p>
            <a:pPr>
              <a:buFont typeface="Arial" panose="020B0604020202020204" pitchFamily="34" charset="0"/>
              <a:buChar char="•"/>
            </a:pPr>
            <a:endParaRPr lang="fr-FR" sz="2000" dirty="0"/>
          </a:p>
          <a:p>
            <a:pPr>
              <a:buNone/>
            </a:pPr>
            <a:r>
              <a:rPr lang="fr-FR" sz="2000" b="1" dirty="0"/>
              <a:t>Choix méthodologique</a:t>
            </a:r>
            <a:endParaRPr lang="fr-FR" sz="2000" dirty="0"/>
          </a:p>
          <a:p>
            <a:pPr>
              <a:buFont typeface="Arial" panose="020B0604020202020204" pitchFamily="34" charset="0"/>
              <a:buChar char="•"/>
            </a:pPr>
            <a:r>
              <a:rPr lang="fr-FR" sz="2000" dirty="0"/>
              <a:t>Certaines variables énergétiques globales ont néanmoins été conservées</a:t>
            </a:r>
          </a:p>
          <a:p>
            <a:pPr>
              <a:buFont typeface="Arial" panose="020B0604020202020204" pitchFamily="34" charset="0"/>
              <a:buChar char="•"/>
            </a:pPr>
            <a:endParaRPr lang="fr-FR" sz="2000" dirty="0"/>
          </a:p>
          <a:p>
            <a:pPr>
              <a:buFont typeface="Arial" panose="020B0604020202020204" pitchFamily="34" charset="0"/>
              <a:buChar char="•"/>
            </a:pPr>
            <a:r>
              <a:rPr lang="fr-FR" sz="2000" dirty="0"/>
              <a:t>But :</a:t>
            </a:r>
          </a:p>
          <a:p>
            <a:pPr marL="742950" lvl="1" indent="-285750">
              <a:buFont typeface="Arial" panose="020B0604020202020204" pitchFamily="34" charset="0"/>
              <a:buChar char="•"/>
            </a:pPr>
            <a:r>
              <a:rPr lang="fr-FR" sz="2000" dirty="0"/>
              <a:t>conserver un minimum de signal énergétique</a:t>
            </a:r>
          </a:p>
          <a:p>
            <a:pPr marL="742950" lvl="1" indent="-285750">
              <a:buFont typeface="Arial" panose="020B0604020202020204" pitchFamily="34" charset="0"/>
              <a:buChar char="•"/>
            </a:pPr>
            <a:r>
              <a:rPr lang="fr-FR" sz="2000" dirty="0"/>
              <a:t>éviter un modèle totalement déconnecté de la consommation réelle</a:t>
            </a:r>
          </a:p>
          <a:p>
            <a:pPr marL="742950" lvl="1" indent="-285750">
              <a:buFont typeface="Arial" panose="020B0604020202020204" pitchFamily="34" charset="0"/>
              <a:buChar char="•"/>
            </a:pPr>
            <a:endParaRPr lang="fr-FR" sz="2000" dirty="0"/>
          </a:p>
          <a:p>
            <a:pPr>
              <a:buNone/>
            </a:pPr>
            <a:r>
              <a:rPr lang="fr-FR" sz="2000" b="1" dirty="0"/>
              <a:t>Limites observées</a:t>
            </a:r>
            <a:endParaRPr lang="fr-FR" sz="2000" dirty="0"/>
          </a:p>
          <a:p>
            <a:pPr>
              <a:buFont typeface="Arial" panose="020B0604020202020204" pitchFamily="34" charset="0"/>
              <a:buChar char="•"/>
            </a:pPr>
            <a:r>
              <a:rPr lang="fr-FR" sz="2000" dirty="0"/>
              <a:t>Les variables conservées restent insuffisantes pour capturer toute la complexité de la consommation</a:t>
            </a:r>
          </a:p>
          <a:p>
            <a:pPr>
              <a:buFont typeface="Arial" panose="020B0604020202020204" pitchFamily="34" charset="0"/>
              <a:buChar char="•"/>
            </a:pPr>
            <a:r>
              <a:rPr lang="fr-FR" sz="2000" dirty="0"/>
              <a:t>Le modèle s’appuie principalement sur :</a:t>
            </a:r>
          </a:p>
          <a:p>
            <a:pPr marL="742950" lvl="1" indent="-285750">
              <a:buFont typeface="Arial" panose="020B0604020202020204" pitchFamily="34" charset="0"/>
              <a:buChar char="•"/>
            </a:pPr>
            <a:r>
              <a:rPr lang="fr-FR" sz="2000" dirty="0"/>
              <a:t>des indicateurs globaux</a:t>
            </a:r>
          </a:p>
          <a:p>
            <a:pPr marL="742950" lvl="1" indent="-285750">
              <a:buFont typeface="Arial" panose="020B0604020202020204" pitchFamily="34" charset="0"/>
              <a:buChar char="•"/>
            </a:pPr>
            <a:r>
              <a:rPr lang="fr-FR" sz="2000" dirty="0"/>
              <a:t>des caractéristiques structurelles</a:t>
            </a:r>
          </a:p>
        </p:txBody>
      </p:sp>
    </p:spTree>
    <p:extLst>
      <p:ext uri="{BB962C8B-B14F-4D97-AF65-F5344CB8AC3E}">
        <p14:creationId xmlns:p14="http://schemas.microsoft.com/office/powerpoint/2010/main" val="27096193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338C048B-6BB4-B43D-E58B-CF0FEC53200B}"/>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8E99D30-A7EC-4F40-3924-2F0046CB433B}"/>
              </a:ext>
            </a:extLst>
          </p:cNvPr>
          <p:cNvSpPr txBox="1"/>
          <p:nvPr/>
        </p:nvSpPr>
        <p:spPr>
          <a:xfrm>
            <a:off x="3856893" y="0"/>
            <a:ext cx="5767754" cy="461665"/>
          </a:xfrm>
          <a:prstGeom prst="rect">
            <a:avLst/>
          </a:prstGeom>
          <a:noFill/>
        </p:spPr>
        <p:txBody>
          <a:bodyPr wrap="square">
            <a:spAutoFit/>
          </a:bodyPr>
          <a:lstStyle/>
          <a:p>
            <a:r>
              <a:rPr lang="fr-FR" sz="2400" b="1" u="sng" dirty="0"/>
              <a:t>Mise en service du modèle (API)</a:t>
            </a:r>
          </a:p>
        </p:txBody>
      </p:sp>
      <p:sp>
        <p:nvSpPr>
          <p:cNvPr id="7" name="ZoneTexte 6">
            <a:extLst>
              <a:ext uri="{FF2B5EF4-FFF2-40B4-BE49-F238E27FC236}">
                <a16:creationId xmlns:a16="http://schemas.microsoft.com/office/drawing/2014/main" id="{6A1BBBF8-BCB0-E9A8-2EF6-9027A0676ED7}"/>
              </a:ext>
            </a:extLst>
          </p:cNvPr>
          <p:cNvSpPr txBox="1"/>
          <p:nvPr/>
        </p:nvSpPr>
        <p:spPr>
          <a:xfrm>
            <a:off x="140676" y="1116650"/>
            <a:ext cx="10961077" cy="4093428"/>
          </a:xfrm>
          <a:prstGeom prst="rect">
            <a:avLst/>
          </a:prstGeom>
          <a:noFill/>
        </p:spPr>
        <p:txBody>
          <a:bodyPr wrap="square">
            <a:spAutoFit/>
          </a:bodyPr>
          <a:lstStyle/>
          <a:p>
            <a:pPr>
              <a:buNone/>
            </a:pPr>
            <a:r>
              <a:rPr lang="fr-FR" sz="2000" b="1" dirty="0"/>
              <a:t>Architecture du service</a:t>
            </a:r>
          </a:p>
          <a:p>
            <a:pPr>
              <a:buFont typeface="Arial" panose="020B0604020202020204" pitchFamily="34" charset="0"/>
              <a:buChar char="•"/>
            </a:pPr>
            <a:r>
              <a:rPr lang="fr-FR" sz="2000" dirty="0"/>
              <a:t>Modèle de Machine Learning sauvegardé et chargé via BentoML</a:t>
            </a:r>
          </a:p>
          <a:p>
            <a:pPr>
              <a:buFont typeface="Arial" panose="020B0604020202020204" pitchFamily="34" charset="0"/>
              <a:buChar char="•"/>
            </a:pPr>
            <a:r>
              <a:rPr lang="fr-FR" sz="2000" dirty="0"/>
              <a:t>Service exposé sous forme d’API de prédiction</a:t>
            </a:r>
          </a:p>
          <a:p>
            <a:pPr>
              <a:buFont typeface="Arial" panose="020B0604020202020204" pitchFamily="34" charset="0"/>
              <a:buChar char="•"/>
            </a:pPr>
            <a:r>
              <a:rPr lang="fr-FR" sz="2000" dirty="0"/>
              <a:t>Architecture découplée :</a:t>
            </a:r>
          </a:p>
          <a:p>
            <a:pPr marL="742950" lvl="1" indent="-285750">
              <a:buFont typeface="Arial" panose="020B0604020202020204" pitchFamily="34" charset="0"/>
              <a:buChar char="•"/>
            </a:pPr>
            <a:r>
              <a:rPr lang="fr-FR" sz="2000" dirty="0"/>
              <a:t>modèle</a:t>
            </a:r>
          </a:p>
          <a:p>
            <a:pPr marL="742950" lvl="1" indent="-285750">
              <a:buFont typeface="Arial" panose="020B0604020202020204" pitchFamily="34" charset="0"/>
              <a:buChar char="•"/>
            </a:pPr>
            <a:r>
              <a:rPr lang="fr-FR" sz="2000" dirty="0"/>
              <a:t>logique de service</a:t>
            </a:r>
          </a:p>
          <a:p>
            <a:pPr marL="742950" lvl="1" indent="-285750">
              <a:buFont typeface="Arial" panose="020B0604020202020204" pitchFamily="34" charset="0"/>
              <a:buChar char="•"/>
            </a:pPr>
            <a:r>
              <a:rPr lang="fr-FR" sz="2000" dirty="0"/>
              <a:t>schéma des données</a:t>
            </a:r>
          </a:p>
          <a:p>
            <a:pPr marL="742950" lvl="1" indent="-285750">
              <a:buFont typeface="Arial" panose="020B0604020202020204" pitchFamily="34" charset="0"/>
              <a:buChar char="•"/>
            </a:pPr>
            <a:endParaRPr lang="fr-FR" sz="2000" dirty="0"/>
          </a:p>
          <a:p>
            <a:pPr>
              <a:buNone/>
            </a:pPr>
            <a:r>
              <a:rPr lang="fr-FR" sz="2000" b="1" dirty="0"/>
              <a:t>Fonctionnement</a:t>
            </a:r>
          </a:p>
          <a:p>
            <a:pPr>
              <a:buFont typeface="Arial" panose="020B0604020202020204" pitchFamily="34" charset="0"/>
              <a:buChar char="•"/>
            </a:pPr>
            <a:r>
              <a:rPr lang="fr-FR" sz="2000" dirty="0"/>
              <a:t>L’API reçoit les caractéristiques d’un bâtiment</a:t>
            </a:r>
          </a:p>
          <a:p>
            <a:pPr>
              <a:buFont typeface="Arial" panose="020B0604020202020204" pitchFamily="34" charset="0"/>
              <a:buChar char="•"/>
            </a:pPr>
            <a:r>
              <a:rPr lang="fr-FR" sz="2000" dirty="0"/>
              <a:t>Les données sont transformées dans un </a:t>
            </a:r>
            <a:r>
              <a:rPr lang="fr-FR" sz="2000" dirty="0" err="1"/>
              <a:t>DataFrame</a:t>
            </a:r>
            <a:r>
              <a:rPr lang="fr-FR" sz="2000" dirty="0"/>
              <a:t> conforme au modèle</a:t>
            </a:r>
          </a:p>
          <a:p>
            <a:pPr>
              <a:buFont typeface="Arial" panose="020B0604020202020204" pitchFamily="34" charset="0"/>
              <a:buChar char="•"/>
            </a:pPr>
            <a:r>
              <a:rPr lang="fr-FR" sz="2000" dirty="0"/>
              <a:t>Le modèle retourne une prédiction de la consommation énergétique</a:t>
            </a:r>
          </a:p>
          <a:p>
            <a:pPr>
              <a:buFont typeface="Arial" panose="020B0604020202020204" pitchFamily="34" charset="0"/>
              <a:buChar char="•"/>
            </a:pPr>
            <a:r>
              <a:rPr lang="fr-FR" sz="2000" dirty="0"/>
              <a:t>Conversion automatique du résultat en </a:t>
            </a:r>
            <a:r>
              <a:rPr lang="fr-FR" sz="2000" dirty="0" err="1"/>
              <a:t>kBtu</a:t>
            </a:r>
            <a:r>
              <a:rPr lang="fr-FR" sz="2000" dirty="0"/>
              <a:t> et kWh</a:t>
            </a:r>
          </a:p>
        </p:txBody>
      </p:sp>
    </p:spTree>
    <p:extLst>
      <p:ext uri="{BB962C8B-B14F-4D97-AF65-F5344CB8AC3E}">
        <p14:creationId xmlns:p14="http://schemas.microsoft.com/office/powerpoint/2010/main" val="20165996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AE93AE7A-C504-C37C-1ACA-9C78B8EE4E4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E1AB968-5448-E753-7789-CDFE9F3925AB}"/>
              </a:ext>
            </a:extLst>
          </p:cNvPr>
          <p:cNvSpPr txBox="1"/>
          <p:nvPr/>
        </p:nvSpPr>
        <p:spPr>
          <a:xfrm>
            <a:off x="3493477" y="11723"/>
            <a:ext cx="6096000" cy="400110"/>
          </a:xfrm>
          <a:prstGeom prst="rect">
            <a:avLst/>
          </a:prstGeom>
          <a:noFill/>
        </p:spPr>
        <p:txBody>
          <a:bodyPr wrap="square">
            <a:spAutoFit/>
          </a:bodyPr>
          <a:lstStyle/>
          <a:p>
            <a:r>
              <a:rPr lang="fr-FR" sz="2000" b="1" u="sng" dirty="0"/>
              <a:t>Schéma des données &amp; validation des entrées</a:t>
            </a:r>
          </a:p>
        </p:txBody>
      </p:sp>
      <p:sp>
        <p:nvSpPr>
          <p:cNvPr id="7" name="ZoneTexte 6">
            <a:extLst>
              <a:ext uri="{FF2B5EF4-FFF2-40B4-BE49-F238E27FC236}">
                <a16:creationId xmlns:a16="http://schemas.microsoft.com/office/drawing/2014/main" id="{8782626A-A902-7104-355A-9415ECBCD13E}"/>
              </a:ext>
            </a:extLst>
          </p:cNvPr>
          <p:cNvSpPr txBox="1"/>
          <p:nvPr/>
        </p:nvSpPr>
        <p:spPr>
          <a:xfrm>
            <a:off x="0" y="612844"/>
            <a:ext cx="8675078" cy="5632311"/>
          </a:xfrm>
          <a:prstGeom prst="rect">
            <a:avLst/>
          </a:prstGeom>
          <a:noFill/>
        </p:spPr>
        <p:txBody>
          <a:bodyPr wrap="square">
            <a:spAutoFit/>
          </a:bodyPr>
          <a:lstStyle/>
          <a:p>
            <a:pPr>
              <a:buNone/>
            </a:pPr>
            <a:r>
              <a:rPr lang="fr-FR" sz="2000" b="1" dirty="0"/>
              <a:t>Validation des données</a:t>
            </a:r>
          </a:p>
          <a:p>
            <a:pPr>
              <a:buFont typeface="Arial" panose="020B0604020202020204" pitchFamily="34" charset="0"/>
              <a:buChar char="•"/>
            </a:pPr>
            <a:r>
              <a:rPr lang="fr-FR" sz="2000" dirty="0"/>
              <a:t>Définition d’un schéma strict avec </a:t>
            </a:r>
            <a:r>
              <a:rPr lang="fr-FR" sz="2000" dirty="0" err="1"/>
              <a:t>Pydantic</a:t>
            </a:r>
            <a:endParaRPr lang="fr-FR" sz="2000" dirty="0"/>
          </a:p>
          <a:p>
            <a:pPr>
              <a:buFont typeface="Arial" panose="020B0604020202020204" pitchFamily="34" charset="0"/>
              <a:buChar char="•"/>
            </a:pPr>
            <a:r>
              <a:rPr lang="fr-FR" sz="2000" dirty="0"/>
              <a:t>Validation automatique :</a:t>
            </a:r>
          </a:p>
          <a:p>
            <a:pPr marL="742950" lvl="1" indent="-285750">
              <a:buFont typeface="Arial" panose="020B0604020202020204" pitchFamily="34" charset="0"/>
              <a:buChar char="•"/>
            </a:pPr>
            <a:r>
              <a:rPr lang="fr-FR" sz="2000" dirty="0"/>
              <a:t>types numériques</a:t>
            </a:r>
          </a:p>
          <a:p>
            <a:pPr marL="742950" lvl="1" indent="-285750">
              <a:buFont typeface="Arial" panose="020B0604020202020204" pitchFamily="34" charset="0"/>
              <a:buChar char="•"/>
            </a:pPr>
            <a:r>
              <a:rPr lang="fr-FR" sz="2000" dirty="0"/>
              <a:t>valeurs positives</a:t>
            </a:r>
          </a:p>
          <a:p>
            <a:pPr marL="742950" lvl="1" indent="-285750">
              <a:buFont typeface="Arial" panose="020B0604020202020204" pitchFamily="34" charset="0"/>
              <a:buChar char="•"/>
            </a:pPr>
            <a:r>
              <a:rPr lang="fr-FR" sz="2000" dirty="0"/>
              <a:t>correspondance exacte avec les variables du modèle</a:t>
            </a:r>
          </a:p>
          <a:p>
            <a:pPr marL="742950" lvl="1" indent="-285750">
              <a:buFont typeface="Arial" panose="020B0604020202020204" pitchFamily="34" charset="0"/>
              <a:buChar char="•"/>
            </a:pPr>
            <a:endParaRPr lang="fr-FR" sz="2000" dirty="0"/>
          </a:p>
          <a:p>
            <a:pPr>
              <a:buNone/>
            </a:pPr>
            <a:r>
              <a:rPr lang="fr-FR" sz="2000" b="1" dirty="0"/>
              <a:t>Avantages</a:t>
            </a:r>
          </a:p>
          <a:p>
            <a:pPr>
              <a:buFont typeface="Arial" panose="020B0604020202020204" pitchFamily="34" charset="0"/>
              <a:buChar char="•"/>
            </a:pPr>
            <a:r>
              <a:rPr lang="fr-FR" sz="2000" dirty="0"/>
              <a:t>Protection contre les entrées invalides</a:t>
            </a:r>
          </a:p>
          <a:p>
            <a:pPr>
              <a:buFont typeface="Arial" panose="020B0604020202020204" pitchFamily="34" charset="0"/>
              <a:buChar char="•"/>
            </a:pPr>
            <a:r>
              <a:rPr lang="fr-FR" sz="2000" dirty="0"/>
              <a:t>Cohérence entre entraînement et prédiction</a:t>
            </a:r>
          </a:p>
          <a:p>
            <a:pPr>
              <a:buFont typeface="Arial" panose="020B0604020202020204" pitchFamily="34" charset="0"/>
              <a:buChar char="•"/>
            </a:pPr>
            <a:r>
              <a:rPr lang="fr-FR" sz="2000" dirty="0"/>
              <a:t>Sécurisation du modèle en conditions réelles d’utilisation</a:t>
            </a:r>
          </a:p>
          <a:p>
            <a:pPr>
              <a:buFont typeface="Arial" panose="020B0604020202020204" pitchFamily="34" charset="0"/>
              <a:buChar char="•"/>
            </a:pPr>
            <a:endParaRPr lang="fr-FR" sz="2000" dirty="0"/>
          </a:p>
          <a:p>
            <a:pPr>
              <a:buNone/>
            </a:pPr>
            <a:r>
              <a:rPr lang="fr-FR" sz="2000" b="1" dirty="0"/>
              <a:t>Conclusion</a:t>
            </a:r>
          </a:p>
          <a:p>
            <a:pPr>
              <a:buFont typeface="Arial" panose="020B0604020202020204" pitchFamily="34" charset="0"/>
              <a:buChar char="•"/>
            </a:pPr>
            <a:r>
              <a:rPr lang="fr-FR" sz="2000" dirty="0"/>
              <a:t>Le modèle est prêt à être consommé par une application</a:t>
            </a:r>
          </a:p>
          <a:p>
            <a:pPr>
              <a:buFont typeface="Arial" panose="020B0604020202020204" pitchFamily="34" charset="0"/>
              <a:buChar char="•"/>
            </a:pPr>
            <a:r>
              <a:rPr lang="fr-FR" sz="2000" dirty="0"/>
              <a:t>L’API garantit :</a:t>
            </a:r>
          </a:p>
          <a:p>
            <a:pPr marL="742950" lvl="1" indent="-285750">
              <a:buFont typeface="Arial" panose="020B0604020202020204" pitchFamily="34" charset="0"/>
              <a:buChar char="•"/>
            </a:pPr>
            <a:r>
              <a:rPr lang="fr-FR" sz="2000" dirty="0"/>
              <a:t>fiabilité des prédictions</a:t>
            </a:r>
          </a:p>
          <a:p>
            <a:pPr marL="742950" lvl="1" indent="-285750">
              <a:buFont typeface="Arial" panose="020B0604020202020204" pitchFamily="34" charset="0"/>
              <a:buChar char="•"/>
            </a:pPr>
            <a:r>
              <a:rPr lang="fr-FR" sz="2000" dirty="0"/>
              <a:t>reproductibilité</a:t>
            </a:r>
          </a:p>
          <a:p>
            <a:pPr marL="742950" lvl="1" indent="-285750">
              <a:buFont typeface="Arial" panose="020B0604020202020204" pitchFamily="34" charset="0"/>
              <a:buChar char="•"/>
            </a:pPr>
            <a:r>
              <a:rPr lang="fr-FR" sz="2000" dirty="0"/>
              <a:t>robustesse en production</a:t>
            </a:r>
          </a:p>
        </p:txBody>
      </p:sp>
    </p:spTree>
    <p:extLst>
      <p:ext uri="{BB962C8B-B14F-4D97-AF65-F5344CB8AC3E}">
        <p14:creationId xmlns:p14="http://schemas.microsoft.com/office/powerpoint/2010/main" val="24278463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C1880913-8A8B-54A8-70E4-F5009630D98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F667CC4C-BA67-F7A2-F76A-B22537FAB1C1}"/>
              </a:ext>
            </a:extLst>
          </p:cNvPr>
          <p:cNvSpPr txBox="1"/>
          <p:nvPr/>
        </p:nvSpPr>
        <p:spPr>
          <a:xfrm>
            <a:off x="3856892" y="0"/>
            <a:ext cx="6096000" cy="461665"/>
          </a:xfrm>
          <a:prstGeom prst="rect">
            <a:avLst/>
          </a:prstGeom>
          <a:noFill/>
        </p:spPr>
        <p:txBody>
          <a:bodyPr wrap="square">
            <a:spAutoFit/>
          </a:bodyPr>
          <a:lstStyle/>
          <a:p>
            <a:r>
              <a:rPr lang="fr-FR" sz="2400" b="1" u="sng" dirty="0"/>
              <a:t>Mise en œuvre et résultats</a:t>
            </a:r>
          </a:p>
        </p:txBody>
      </p:sp>
      <p:sp>
        <p:nvSpPr>
          <p:cNvPr id="7" name="ZoneTexte 6">
            <a:extLst>
              <a:ext uri="{FF2B5EF4-FFF2-40B4-BE49-F238E27FC236}">
                <a16:creationId xmlns:a16="http://schemas.microsoft.com/office/drawing/2014/main" id="{50F579F0-3F57-EB0B-94DA-5426054D9C52}"/>
              </a:ext>
            </a:extLst>
          </p:cNvPr>
          <p:cNvSpPr txBox="1"/>
          <p:nvPr/>
        </p:nvSpPr>
        <p:spPr>
          <a:xfrm>
            <a:off x="82061" y="461665"/>
            <a:ext cx="9706708" cy="1631216"/>
          </a:xfrm>
          <a:prstGeom prst="rect">
            <a:avLst/>
          </a:prstGeom>
          <a:noFill/>
        </p:spPr>
        <p:txBody>
          <a:bodyPr wrap="square">
            <a:spAutoFit/>
          </a:bodyPr>
          <a:lstStyle/>
          <a:p>
            <a:pPr>
              <a:buNone/>
            </a:pPr>
            <a:r>
              <a:rPr lang="fr-FR" sz="2000" b="1" dirty="0"/>
              <a:t>Mise en œuvre</a:t>
            </a:r>
          </a:p>
          <a:p>
            <a:pPr>
              <a:buFont typeface="Arial" panose="020B0604020202020204" pitchFamily="34" charset="0"/>
              <a:buChar char="•"/>
            </a:pPr>
            <a:r>
              <a:rPr lang="fr-FR" sz="2000" dirty="0"/>
              <a:t>Définition du service (</a:t>
            </a:r>
            <a:r>
              <a:rPr lang="fr-FR" sz="2000" dirty="0" err="1">
                <a:latin typeface="Courier New" panose="02070309020205020404" pitchFamily="49" charset="0"/>
              </a:rPr>
              <a:t>service.py</a:t>
            </a:r>
            <a:r>
              <a:rPr lang="fr-FR" sz="2000" dirty="0"/>
              <a:t>) exposant une route de prédiction.</a:t>
            </a:r>
          </a:p>
          <a:p>
            <a:pPr>
              <a:buFont typeface="Arial" panose="020B0604020202020204" pitchFamily="34" charset="0"/>
              <a:buChar char="•"/>
            </a:pPr>
            <a:r>
              <a:rPr lang="fr-FR" sz="2000" dirty="0"/>
              <a:t>Validation stricte des données d’entrée (types, valeurs positives, cohérence).</a:t>
            </a:r>
          </a:p>
          <a:p>
            <a:pPr>
              <a:buFont typeface="Arial" panose="020B0604020202020204" pitchFamily="34" charset="0"/>
              <a:buChar char="•"/>
            </a:pPr>
            <a:r>
              <a:rPr lang="fr-FR" sz="2000" dirty="0"/>
              <a:t>Packaging du service via </a:t>
            </a:r>
            <a:r>
              <a:rPr lang="fr-FR" sz="2000" dirty="0" err="1">
                <a:latin typeface="Courier New" panose="02070309020205020404" pitchFamily="49" charset="0"/>
              </a:rPr>
              <a:t>bentofile.yaml</a:t>
            </a:r>
            <a:r>
              <a:rPr lang="fr-FR" sz="2000" dirty="0"/>
              <a:t> pour un déploiement conteneurisé.</a:t>
            </a:r>
          </a:p>
          <a:p>
            <a:pPr>
              <a:buFont typeface="Arial" panose="020B0604020202020204" pitchFamily="34" charset="0"/>
              <a:buChar char="•"/>
            </a:pPr>
            <a:r>
              <a:rPr lang="fr-FR" sz="2000" dirty="0"/>
              <a:t>Service compatible avec Azure (Container Apps / services managés).</a:t>
            </a:r>
          </a:p>
        </p:txBody>
      </p:sp>
      <p:pic>
        <p:nvPicPr>
          <p:cNvPr id="9" name="Image 8" descr="Une image contenant texte, Police, logiciel, capture d’écran&#10;&#10;Le contenu généré par l’IA peut être incorrect.">
            <a:extLst>
              <a:ext uri="{FF2B5EF4-FFF2-40B4-BE49-F238E27FC236}">
                <a16:creationId xmlns:a16="http://schemas.microsoft.com/office/drawing/2014/main" id="{0FA0ABCC-3701-9C2F-841E-07024D28B488}"/>
              </a:ext>
            </a:extLst>
          </p:cNvPr>
          <p:cNvPicPr>
            <a:picLocks noChangeAspect="1"/>
          </p:cNvPicPr>
          <p:nvPr/>
        </p:nvPicPr>
        <p:blipFill>
          <a:blip r:embed="rId3"/>
          <a:stretch>
            <a:fillRect/>
          </a:stretch>
        </p:blipFill>
        <p:spPr>
          <a:xfrm>
            <a:off x="2016369" y="2775979"/>
            <a:ext cx="7772400" cy="3094768"/>
          </a:xfrm>
          <a:prstGeom prst="rect">
            <a:avLst/>
          </a:prstGeom>
        </p:spPr>
      </p:pic>
    </p:spTree>
    <p:extLst>
      <p:ext uri="{BB962C8B-B14F-4D97-AF65-F5344CB8AC3E}">
        <p14:creationId xmlns:p14="http://schemas.microsoft.com/office/powerpoint/2010/main" val="28751049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51C63893-B85E-45A6-93B9-0446566359C7}"/>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3F1F1A4-2C22-C874-A17D-FED3E62598A5}"/>
              </a:ext>
            </a:extLst>
          </p:cNvPr>
          <p:cNvSpPr txBox="1"/>
          <p:nvPr/>
        </p:nvSpPr>
        <p:spPr>
          <a:xfrm>
            <a:off x="2977661" y="23446"/>
            <a:ext cx="6729046" cy="461665"/>
          </a:xfrm>
          <a:prstGeom prst="rect">
            <a:avLst/>
          </a:prstGeom>
          <a:noFill/>
        </p:spPr>
        <p:txBody>
          <a:bodyPr wrap="square">
            <a:spAutoFit/>
          </a:bodyPr>
          <a:lstStyle/>
          <a:p>
            <a:r>
              <a:rPr lang="fr-FR" sz="2400" b="1" u="sng" dirty="0"/>
              <a:t>Déploiement du modèle dans le Cloud (Azure)</a:t>
            </a:r>
          </a:p>
        </p:txBody>
      </p:sp>
      <p:sp>
        <p:nvSpPr>
          <p:cNvPr id="7" name="ZoneTexte 6">
            <a:extLst>
              <a:ext uri="{FF2B5EF4-FFF2-40B4-BE49-F238E27FC236}">
                <a16:creationId xmlns:a16="http://schemas.microsoft.com/office/drawing/2014/main" id="{74D5AFE6-731A-BD50-8E34-FFFB06A22047}"/>
              </a:ext>
            </a:extLst>
          </p:cNvPr>
          <p:cNvSpPr txBox="1"/>
          <p:nvPr/>
        </p:nvSpPr>
        <p:spPr>
          <a:xfrm>
            <a:off x="105506" y="616694"/>
            <a:ext cx="12086493" cy="2862322"/>
          </a:xfrm>
          <a:prstGeom prst="rect">
            <a:avLst/>
          </a:prstGeom>
          <a:noFill/>
        </p:spPr>
        <p:txBody>
          <a:bodyPr wrap="square">
            <a:spAutoFit/>
          </a:bodyPr>
          <a:lstStyle/>
          <a:p>
            <a:pPr>
              <a:buNone/>
            </a:pPr>
            <a:r>
              <a:rPr lang="fr-FR" sz="2000" b="1" dirty="0"/>
              <a:t>Analyse</a:t>
            </a:r>
          </a:p>
          <a:p>
            <a:pPr>
              <a:buFont typeface="Arial" panose="020B0604020202020204" pitchFamily="34" charset="0"/>
              <a:buChar char="•"/>
            </a:pPr>
            <a:r>
              <a:rPr lang="fr-FR" sz="2000" dirty="0"/>
              <a:t>Le modèle de régression linéaire optimisé (Ridge) a été packagé sous forme de service API à l’aide de BentoML.</a:t>
            </a:r>
          </a:p>
          <a:p>
            <a:pPr>
              <a:buFont typeface="Arial" panose="020B0604020202020204" pitchFamily="34" charset="0"/>
              <a:buChar char="•"/>
            </a:pPr>
            <a:r>
              <a:rPr lang="fr-FR" sz="2000" dirty="0"/>
              <a:t>Conteneurisation du modèle(Docker)</a:t>
            </a:r>
          </a:p>
          <a:p>
            <a:pPr>
              <a:buFont typeface="Arial" panose="020B0604020202020204" pitchFamily="34" charset="0"/>
              <a:buChar char="•"/>
            </a:pPr>
            <a:r>
              <a:rPr lang="fr-FR" sz="2000" dirty="0"/>
              <a:t>Le service intègre :</a:t>
            </a:r>
          </a:p>
          <a:p>
            <a:pPr marL="742950" lvl="1" indent="-285750">
              <a:buFont typeface="Arial" panose="020B0604020202020204" pitchFamily="34" charset="0"/>
              <a:buChar char="•"/>
            </a:pPr>
            <a:r>
              <a:rPr lang="fr-FR" sz="2000" dirty="0"/>
              <a:t>le modèle entraîné et versionné,</a:t>
            </a:r>
          </a:p>
          <a:p>
            <a:pPr marL="742950" lvl="1" indent="-285750">
              <a:buFont typeface="Arial" panose="020B0604020202020204" pitchFamily="34" charset="0"/>
              <a:buChar char="•"/>
            </a:pPr>
            <a:r>
              <a:rPr lang="fr-FR" sz="2000" dirty="0"/>
              <a:t>un schéma de validation des entrées via </a:t>
            </a:r>
            <a:r>
              <a:rPr lang="fr-FR" sz="2000" dirty="0" err="1"/>
              <a:t>Pydantic</a:t>
            </a:r>
            <a:r>
              <a:rPr lang="fr-FR" sz="2000" dirty="0"/>
              <a:t>,</a:t>
            </a:r>
          </a:p>
          <a:p>
            <a:pPr marL="742950" lvl="1" indent="-285750">
              <a:buFont typeface="Arial" panose="020B0604020202020204" pitchFamily="34" charset="0"/>
              <a:buChar char="•"/>
            </a:pPr>
            <a:r>
              <a:rPr lang="fr-FR" sz="2000" dirty="0"/>
              <a:t>l’ensemble des dépendances nécessaires à l’exécution.</a:t>
            </a:r>
          </a:p>
          <a:p>
            <a:pPr>
              <a:buFont typeface="Arial" panose="020B0604020202020204" pitchFamily="34" charset="0"/>
              <a:buChar char="•"/>
            </a:pPr>
            <a:r>
              <a:rPr lang="fr-FR" sz="2000" dirty="0"/>
              <a:t>Déploiement dans le cloud (azure)</a:t>
            </a:r>
          </a:p>
        </p:txBody>
      </p:sp>
      <p:pic>
        <p:nvPicPr>
          <p:cNvPr id="9" name="Image 8" descr="Une image contenant texte, capture d’écran, Police&#10;&#10;Le contenu généré par l’IA peut être incorrect.">
            <a:extLst>
              <a:ext uri="{FF2B5EF4-FFF2-40B4-BE49-F238E27FC236}">
                <a16:creationId xmlns:a16="http://schemas.microsoft.com/office/drawing/2014/main" id="{28D8A000-AF0F-C61E-D865-7F953DB89DFD}"/>
              </a:ext>
            </a:extLst>
          </p:cNvPr>
          <p:cNvPicPr>
            <a:picLocks noChangeAspect="1"/>
          </p:cNvPicPr>
          <p:nvPr/>
        </p:nvPicPr>
        <p:blipFill>
          <a:blip r:embed="rId3"/>
          <a:stretch>
            <a:fillRect/>
          </a:stretch>
        </p:blipFill>
        <p:spPr>
          <a:xfrm>
            <a:off x="880821" y="3994513"/>
            <a:ext cx="10182409" cy="1738072"/>
          </a:xfrm>
          <a:prstGeom prst="rect">
            <a:avLst/>
          </a:prstGeom>
        </p:spPr>
      </p:pic>
    </p:spTree>
    <p:extLst>
      <p:ext uri="{BB962C8B-B14F-4D97-AF65-F5344CB8AC3E}">
        <p14:creationId xmlns:p14="http://schemas.microsoft.com/office/powerpoint/2010/main" val="18870634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06293417-EB17-70E6-C94A-E63838A844E4}"/>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3F868A69-41EC-B717-FB32-FC1FEAC24115}"/>
              </a:ext>
            </a:extLst>
          </p:cNvPr>
          <p:cNvSpPr txBox="1"/>
          <p:nvPr/>
        </p:nvSpPr>
        <p:spPr>
          <a:xfrm>
            <a:off x="3856892" y="0"/>
            <a:ext cx="6096000" cy="461665"/>
          </a:xfrm>
          <a:prstGeom prst="rect">
            <a:avLst/>
          </a:prstGeom>
          <a:noFill/>
        </p:spPr>
        <p:txBody>
          <a:bodyPr wrap="square">
            <a:spAutoFit/>
          </a:bodyPr>
          <a:lstStyle/>
          <a:p>
            <a:r>
              <a:rPr lang="fr-FR" sz="2400" b="1" u="sng" dirty="0"/>
              <a:t>Mise en œuvre et résultats</a:t>
            </a:r>
          </a:p>
        </p:txBody>
      </p:sp>
      <p:sp>
        <p:nvSpPr>
          <p:cNvPr id="7" name="ZoneTexte 6">
            <a:extLst>
              <a:ext uri="{FF2B5EF4-FFF2-40B4-BE49-F238E27FC236}">
                <a16:creationId xmlns:a16="http://schemas.microsoft.com/office/drawing/2014/main" id="{C7AAC10D-E15C-DFDD-AD52-7E73EAF86E01}"/>
              </a:ext>
            </a:extLst>
          </p:cNvPr>
          <p:cNvSpPr txBox="1"/>
          <p:nvPr/>
        </p:nvSpPr>
        <p:spPr>
          <a:xfrm>
            <a:off x="82061" y="461665"/>
            <a:ext cx="9706708" cy="1323439"/>
          </a:xfrm>
          <a:prstGeom prst="rect">
            <a:avLst/>
          </a:prstGeom>
          <a:noFill/>
        </p:spPr>
        <p:txBody>
          <a:bodyPr wrap="square">
            <a:spAutoFit/>
          </a:bodyPr>
          <a:lstStyle/>
          <a:p>
            <a:pPr>
              <a:buNone/>
            </a:pPr>
            <a:r>
              <a:rPr lang="fr-FR" sz="2000" b="1" dirty="0"/>
              <a:t>Résultat</a:t>
            </a:r>
          </a:p>
          <a:p>
            <a:pPr>
              <a:buFont typeface="Arial" panose="020B0604020202020204" pitchFamily="34" charset="0"/>
              <a:buChar char="•"/>
            </a:pPr>
            <a:r>
              <a:rPr lang="fr-FR" sz="2000" dirty="0"/>
              <a:t>Le modèle est accessible via une API, exploitable par des applications externes.</a:t>
            </a:r>
          </a:p>
          <a:p>
            <a:pPr>
              <a:buFont typeface="Arial" panose="020B0604020202020204" pitchFamily="34" charset="0"/>
              <a:buChar char="•"/>
            </a:pPr>
            <a:r>
              <a:rPr lang="fr-FR" sz="2000" dirty="0"/>
              <a:t>Les prédictions sont retournées en </a:t>
            </a:r>
            <a:r>
              <a:rPr lang="fr-FR" sz="2000" dirty="0" err="1"/>
              <a:t>kBtu</a:t>
            </a:r>
            <a:r>
              <a:rPr lang="fr-FR" sz="2000" dirty="0"/>
              <a:t> et en kWh, facilitant l’interprétation métier.</a:t>
            </a:r>
          </a:p>
          <a:p>
            <a:pPr>
              <a:buFont typeface="Arial" panose="020B0604020202020204" pitchFamily="34" charset="0"/>
              <a:buChar char="•"/>
            </a:pPr>
            <a:r>
              <a:rPr lang="fr-FR" sz="2000" dirty="0"/>
              <a:t>Le projet évolue d’un prototype data science vers une solution industrialisable</a:t>
            </a:r>
            <a:r>
              <a:rPr lang="fr-FR" dirty="0"/>
              <a:t>.</a:t>
            </a:r>
          </a:p>
        </p:txBody>
      </p:sp>
      <p:pic>
        <p:nvPicPr>
          <p:cNvPr id="11" name="Image 10" descr="Une image contenant texte, Police, capture d’écran, blanc&#10;&#10;Le contenu généré par l’IA peut être incorrect.">
            <a:extLst>
              <a:ext uri="{FF2B5EF4-FFF2-40B4-BE49-F238E27FC236}">
                <a16:creationId xmlns:a16="http://schemas.microsoft.com/office/drawing/2014/main" id="{AAF436E7-A2FA-ABE7-EFE1-4A1E05BA7731}"/>
              </a:ext>
            </a:extLst>
          </p:cNvPr>
          <p:cNvPicPr>
            <a:picLocks noChangeAspect="1"/>
          </p:cNvPicPr>
          <p:nvPr/>
        </p:nvPicPr>
        <p:blipFill>
          <a:blip r:embed="rId3"/>
          <a:stretch>
            <a:fillRect/>
          </a:stretch>
        </p:blipFill>
        <p:spPr>
          <a:xfrm>
            <a:off x="483088" y="2561492"/>
            <a:ext cx="3854450" cy="2377999"/>
          </a:xfrm>
          <a:prstGeom prst="rect">
            <a:avLst/>
          </a:prstGeom>
        </p:spPr>
      </p:pic>
      <p:pic>
        <p:nvPicPr>
          <p:cNvPr id="13" name="Image 12" descr="Une image contenant texte, Police, capture d’écran, ligne&#10;&#10;Le contenu généré par l’IA peut être incorrect.">
            <a:extLst>
              <a:ext uri="{FF2B5EF4-FFF2-40B4-BE49-F238E27FC236}">
                <a16:creationId xmlns:a16="http://schemas.microsoft.com/office/drawing/2014/main" id="{F0BEEFE7-D18F-7AB9-DA0E-6D9EBC32F433}"/>
              </a:ext>
            </a:extLst>
          </p:cNvPr>
          <p:cNvPicPr>
            <a:picLocks noChangeAspect="1"/>
          </p:cNvPicPr>
          <p:nvPr/>
        </p:nvPicPr>
        <p:blipFill>
          <a:blip r:embed="rId4"/>
          <a:stretch>
            <a:fillRect/>
          </a:stretch>
        </p:blipFill>
        <p:spPr>
          <a:xfrm>
            <a:off x="5765310" y="3023156"/>
            <a:ext cx="5172233" cy="1541585"/>
          </a:xfrm>
          <a:prstGeom prst="rect">
            <a:avLst/>
          </a:prstGeom>
        </p:spPr>
      </p:pic>
    </p:spTree>
    <p:extLst>
      <p:ext uri="{BB962C8B-B14F-4D97-AF65-F5344CB8AC3E}">
        <p14:creationId xmlns:p14="http://schemas.microsoft.com/office/powerpoint/2010/main" val="15860786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241F771F-B1F9-3538-A0EE-6FCDFBB6082D}"/>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2629D79-C961-D1C2-CCBD-5FB9E66B6980}"/>
              </a:ext>
            </a:extLst>
          </p:cNvPr>
          <p:cNvSpPr txBox="1"/>
          <p:nvPr/>
        </p:nvSpPr>
        <p:spPr>
          <a:xfrm>
            <a:off x="4091354" y="0"/>
            <a:ext cx="6096000" cy="461665"/>
          </a:xfrm>
          <a:prstGeom prst="rect">
            <a:avLst/>
          </a:prstGeom>
          <a:noFill/>
        </p:spPr>
        <p:txBody>
          <a:bodyPr wrap="square">
            <a:spAutoFit/>
          </a:bodyPr>
          <a:lstStyle/>
          <a:p>
            <a:r>
              <a:rPr lang="fr-FR" sz="2400" b="1" u="sng" dirty="0"/>
              <a:t>Conclusion &amp; perspectives</a:t>
            </a:r>
          </a:p>
        </p:txBody>
      </p:sp>
      <p:sp>
        <p:nvSpPr>
          <p:cNvPr id="7" name="ZoneTexte 6">
            <a:extLst>
              <a:ext uri="{FF2B5EF4-FFF2-40B4-BE49-F238E27FC236}">
                <a16:creationId xmlns:a16="http://schemas.microsoft.com/office/drawing/2014/main" id="{E1910705-6EDC-5236-17CC-B41686ACB9D4}"/>
              </a:ext>
            </a:extLst>
          </p:cNvPr>
          <p:cNvSpPr txBox="1"/>
          <p:nvPr/>
        </p:nvSpPr>
        <p:spPr>
          <a:xfrm>
            <a:off x="0" y="2082079"/>
            <a:ext cx="11828585" cy="2862322"/>
          </a:xfrm>
          <a:prstGeom prst="rect">
            <a:avLst/>
          </a:prstGeom>
          <a:noFill/>
        </p:spPr>
        <p:txBody>
          <a:bodyPr wrap="square">
            <a:spAutoFit/>
          </a:bodyPr>
          <a:lstStyle/>
          <a:p>
            <a:pPr>
              <a:buNone/>
            </a:pPr>
            <a:r>
              <a:rPr lang="fr-FR" sz="2000" b="1" dirty="0"/>
              <a:t>Conclusion</a:t>
            </a:r>
          </a:p>
          <a:p>
            <a:pPr>
              <a:buFont typeface="Arial" panose="020B0604020202020204" pitchFamily="34" charset="0"/>
              <a:buChar char="•"/>
            </a:pPr>
            <a:r>
              <a:rPr lang="fr-FR" sz="2000" dirty="0"/>
              <a:t>Ce projet a permis de construire un modèle de prédiction de la consommation énergétique à partir de données structurelles des bâtiments.</a:t>
            </a:r>
          </a:p>
          <a:p>
            <a:pPr>
              <a:buFont typeface="Arial" panose="020B0604020202020204" pitchFamily="34" charset="0"/>
              <a:buChar char="•"/>
            </a:pPr>
            <a:endParaRPr lang="fr-FR" sz="2000" dirty="0"/>
          </a:p>
          <a:p>
            <a:pPr>
              <a:buFont typeface="Arial" panose="020B0604020202020204" pitchFamily="34" charset="0"/>
              <a:buChar char="•"/>
            </a:pPr>
            <a:r>
              <a:rPr lang="fr-FR" sz="2000" dirty="0"/>
              <a:t>Après avoir éliminé les fuites de données, le modèle retenu (régression linéaire régularisée – Ridge) offre des performances cohérentes, stables et généralisables.</a:t>
            </a:r>
          </a:p>
          <a:p>
            <a:pPr>
              <a:buFont typeface="Arial" panose="020B0604020202020204" pitchFamily="34" charset="0"/>
              <a:buChar char="•"/>
            </a:pPr>
            <a:endParaRPr lang="fr-FR" sz="2000" dirty="0"/>
          </a:p>
          <a:p>
            <a:pPr>
              <a:buFont typeface="Arial" panose="020B0604020202020204" pitchFamily="34" charset="0"/>
              <a:buChar char="•"/>
            </a:pPr>
            <a:r>
              <a:rPr lang="fr-FR" sz="2000" dirty="0"/>
              <a:t>Les résultats obtenus montrent que la performance du modèle est principalement limitée par la richesse des données disponibles, et non par la méthode de modélisation.</a:t>
            </a:r>
          </a:p>
        </p:txBody>
      </p:sp>
    </p:spTree>
    <p:extLst>
      <p:ext uri="{BB962C8B-B14F-4D97-AF65-F5344CB8AC3E}">
        <p14:creationId xmlns:p14="http://schemas.microsoft.com/office/powerpoint/2010/main" val="20216717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D019A570-49EA-1297-962E-A2FE381BF80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FB71377-D510-9BD4-2D3D-7AC7225D4F63}"/>
              </a:ext>
            </a:extLst>
          </p:cNvPr>
          <p:cNvSpPr txBox="1"/>
          <p:nvPr/>
        </p:nvSpPr>
        <p:spPr>
          <a:xfrm>
            <a:off x="4091354" y="0"/>
            <a:ext cx="6096000" cy="461665"/>
          </a:xfrm>
          <a:prstGeom prst="rect">
            <a:avLst/>
          </a:prstGeom>
          <a:noFill/>
        </p:spPr>
        <p:txBody>
          <a:bodyPr wrap="square">
            <a:spAutoFit/>
          </a:bodyPr>
          <a:lstStyle/>
          <a:p>
            <a:r>
              <a:rPr lang="fr-FR" sz="2400" b="1" u="sng" dirty="0"/>
              <a:t>Conclusion &amp; perspectives</a:t>
            </a:r>
          </a:p>
        </p:txBody>
      </p:sp>
      <p:sp>
        <p:nvSpPr>
          <p:cNvPr id="3" name="ZoneTexte 2">
            <a:extLst>
              <a:ext uri="{FF2B5EF4-FFF2-40B4-BE49-F238E27FC236}">
                <a16:creationId xmlns:a16="http://schemas.microsoft.com/office/drawing/2014/main" id="{E9FA636C-EC33-BF10-927D-DB3A338B310A}"/>
              </a:ext>
            </a:extLst>
          </p:cNvPr>
          <p:cNvSpPr txBox="1"/>
          <p:nvPr/>
        </p:nvSpPr>
        <p:spPr>
          <a:xfrm>
            <a:off x="0" y="1805079"/>
            <a:ext cx="12297507" cy="3785652"/>
          </a:xfrm>
          <a:prstGeom prst="rect">
            <a:avLst/>
          </a:prstGeom>
          <a:noFill/>
        </p:spPr>
        <p:txBody>
          <a:bodyPr wrap="square">
            <a:spAutoFit/>
          </a:bodyPr>
          <a:lstStyle/>
          <a:p>
            <a:pPr>
              <a:buNone/>
            </a:pPr>
            <a:r>
              <a:rPr lang="fr-FR" sz="2000" b="1" dirty="0"/>
              <a:t>Perspectives d’amélioration</a:t>
            </a:r>
          </a:p>
          <a:p>
            <a:pPr>
              <a:buFont typeface="Arial" panose="020B0604020202020204" pitchFamily="34" charset="0"/>
              <a:buChar char="•"/>
            </a:pPr>
            <a:r>
              <a:rPr lang="fr-FR" sz="2000" dirty="0"/>
              <a:t>Enrichissement des données : intégrer davantage de variables liées aux usages réels des bâtiments (occupation, équipements, périodes d’utilisation).</a:t>
            </a:r>
          </a:p>
          <a:p>
            <a:pPr>
              <a:buFont typeface="Arial" panose="020B0604020202020204" pitchFamily="34" charset="0"/>
              <a:buChar char="•"/>
            </a:pPr>
            <a:endParaRPr lang="fr-FR" sz="2000" dirty="0"/>
          </a:p>
          <a:p>
            <a:pPr>
              <a:buFont typeface="Arial" panose="020B0604020202020204" pitchFamily="34" charset="0"/>
              <a:buChar char="•"/>
            </a:pPr>
            <a:r>
              <a:rPr lang="fr-FR" sz="2000" dirty="0"/>
              <a:t>Ajout de données temporelles : inclure des séries temporelles ou des historiques de consommation pour capter des effets saisonniers.</a:t>
            </a:r>
          </a:p>
          <a:p>
            <a:pPr>
              <a:buFont typeface="Arial" panose="020B0604020202020204" pitchFamily="34" charset="0"/>
              <a:buChar char="•"/>
            </a:pPr>
            <a:endParaRPr lang="fr-FR" sz="2000" dirty="0"/>
          </a:p>
          <a:p>
            <a:pPr>
              <a:buFont typeface="Arial" panose="020B0604020202020204" pitchFamily="34" charset="0"/>
              <a:buChar char="•"/>
            </a:pPr>
            <a:r>
              <a:rPr lang="fr-FR" sz="2000" dirty="0"/>
              <a:t>Segmentation des bâtiments : entraîner des modèles spécifiques par type de bâtiment afin de réduire l’hétérogénéité.</a:t>
            </a:r>
          </a:p>
          <a:p>
            <a:pPr>
              <a:buFont typeface="Arial" panose="020B0604020202020204" pitchFamily="34" charset="0"/>
              <a:buChar char="•"/>
            </a:pPr>
            <a:endParaRPr lang="fr-FR" sz="2000" dirty="0"/>
          </a:p>
          <a:p>
            <a:pPr>
              <a:buFont typeface="Arial" panose="020B0604020202020204" pitchFamily="34" charset="0"/>
              <a:buChar char="•"/>
            </a:pPr>
            <a:r>
              <a:rPr lang="fr-FR" sz="2000" dirty="0"/>
              <a:t>Exploration de modèles hybrides : combiner modèles explicatifs et modèles non linéaires tout en contrôlant le surapprentissage.</a:t>
            </a:r>
          </a:p>
        </p:txBody>
      </p:sp>
    </p:spTree>
    <p:extLst>
      <p:ext uri="{BB962C8B-B14F-4D97-AF65-F5344CB8AC3E}">
        <p14:creationId xmlns:p14="http://schemas.microsoft.com/office/powerpoint/2010/main" val="8766738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3233</TotalTime>
  <Words>1920</Words>
  <Application>Microsoft Macintosh PowerPoint</Application>
  <PresentationFormat>Grand écran</PresentationFormat>
  <Paragraphs>311</Paragraphs>
  <Slides>26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Aptos</vt:lpstr>
      <vt:lpstr>Aptos Display</vt:lpstr>
      <vt:lpstr>Arial</vt:lpstr>
      <vt:lpstr>Courier New</vt:lpstr>
      <vt:lpstr>Thème Office</vt:lpstr>
      <vt:lpstr>Prédiction de la consommation énergétique des bâtiments :</vt:lpstr>
      <vt:lpstr>Introduction Contexte du projet, problématique et objectifs  Analyse exploratoire des données Origine et compréhension des données, Qualité des données et nettoyage  Analyse des variables et premiers insights  Préparation des données &amp; feature engineering Traitement des valeurs manquantes, Gestion des valeurs aberrantes Sélection et transformation des variables  Démarche de modélisation Approche méthodologique, Comparaison de différents modèles supervisés  Résultats et interprétation métier Optimisation, Performances du modèle retenu, Influence des variables explicatives  Mise en service du modèle (API) Architecture du service, Schéma des données et validation des entrées  Déploiement du modèle dans le Cloud (Azure) Déploiement et tests du service, Accès à l’API et démonstration en direct  Conclusion &amp; perspectives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Aime ENDAYE MAZINA</dc:creator>
  <cp:lastModifiedBy>Aime ENDAYE MAZINA</cp:lastModifiedBy>
  <cp:revision>61</cp:revision>
  <dcterms:created xsi:type="dcterms:W3CDTF">2026-01-07T15:40:54Z</dcterms:created>
  <dcterms:modified xsi:type="dcterms:W3CDTF">2026-01-21T08:56:37Z</dcterms:modified>
</cp:coreProperties>
</file>